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  <p:sldMasterId id="2147483656" r:id="rId3"/>
  </p:sldMasterIdLst>
  <p:notesMasterIdLst>
    <p:notesMasterId r:id="rId4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</p:sldIdLst>
  <p:sldSz cx="9144000" cy="5143500" type="screen16x9"/>
  <p:notesSz cx="6858000" cy="9144000"/>
  <p:embeddedFontLst>
    <p:embeddedFont>
      <p:font typeface="Arial Narrow" panose="020B0604020202020204" pitchFamily="34" charset="0"/>
      <p:regular r:id="rId50"/>
      <p:bold r:id="rId51"/>
      <p:italic r:id="rId52"/>
      <p:boldItalic r:id="rId53"/>
    </p:embeddedFont>
    <p:embeddedFont>
      <p:font typeface="Courier" panose="02070309020205020404" pitchFamily="49" charset="0"/>
      <p:regular r:id="rId54"/>
      <p:bold r:id="rId55"/>
      <p:italic r:id="rId56"/>
      <p:boldItalic r:id="rId5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902">
          <p15:clr>
            <a:srgbClr val="A4A3A4"/>
          </p15:clr>
        </p15:guide>
        <p15:guide id="2" orient="horz" pos="3018">
          <p15:clr>
            <a:srgbClr val="A4A3A4"/>
          </p15:clr>
        </p15:guide>
        <p15:guide id="3" orient="horz" pos="226">
          <p15:clr>
            <a:srgbClr val="A4A3A4"/>
          </p15:clr>
        </p15:guide>
        <p15:guide id="4" orient="horz" pos="681">
          <p15:clr>
            <a:srgbClr val="A4A3A4"/>
          </p15:clr>
        </p15:guide>
        <p15:guide id="5" orient="horz" pos="1277">
          <p15:clr>
            <a:srgbClr val="A4A3A4"/>
          </p15:clr>
        </p15:guide>
        <p15:guide id="6" orient="horz" pos="1457">
          <p15:clr>
            <a:srgbClr val="A4A3A4"/>
          </p15:clr>
        </p15:guide>
        <p15:guide id="7" orient="horz" pos="1575">
          <p15:clr>
            <a:srgbClr val="A4A3A4"/>
          </p15:clr>
        </p15:guide>
        <p15:guide id="8" orient="horz" pos="1749">
          <p15:clr>
            <a:srgbClr val="A4A3A4"/>
          </p15:clr>
        </p15:guide>
        <p15:guide id="9" orient="horz" pos="2480">
          <p15:clr>
            <a:srgbClr val="A4A3A4"/>
          </p15:clr>
        </p15:guide>
        <p15:guide id="10" orient="horz" pos="1153">
          <p15:clr>
            <a:srgbClr val="A4A3A4"/>
          </p15:clr>
        </p15:guide>
        <p15:guide id="11" orient="horz" pos="338">
          <p15:clr>
            <a:srgbClr val="A4A3A4"/>
          </p15:clr>
        </p15:guide>
        <p15:guide id="12" orient="horz" pos="200">
          <p15:clr>
            <a:srgbClr val="A4A3A4"/>
          </p15:clr>
        </p15:guide>
        <p15:guide id="13" orient="horz" pos="2013">
          <p15:clr>
            <a:srgbClr val="A4A3A4"/>
          </p15:clr>
        </p15:guide>
        <p15:guide id="14" orient="horz" pos="532">
          <p15:clr>
            <a:srgbClr val="A4A3A4"/>
          </p15:clr>
        </p15:guide>
        <p15:guide id="15" orient="horz" pos="202">
          <p15:clr>
            <a:srgbClr val="A4A3A4"/>
          </p15:clr>
        </p15:guide>
        <p15:guide id="16" pos="235">
          <p15:clr>
            <a:srgbClr val="A4A3A4"/>
          </p15:clr>
        </p15:guide>
        <p15:guide id="17" pos="263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8" roundtripDataSignature="AMtx7mimh9wB4iAeUXOrSgUtDsX70l70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72"/>
    <p:restoredTop sz="94652"/>
  </p:normalViewPr>
  <p:slideViewPr>
    <p:cSldViewPr snapToGrid="0">
      <p:cViewPr varScale="1">
        <p:scale>
          <a:sx n="134" d="100"/>
          <a:sy n="134" d="100"/>
        </p:scale>
        <p:origin x="1064" y="176"/>
      </p:cViewPr>
      <p:guideLst>
        <p:guide orient="horz" pos="902"/>
        <p:guide orient="horz" pos="3018"/>
        <p:guide orient="horz" pos="226"/>
        <p:guide orient="horz" pos="681"/>
        <p:guide orient="horz" pos="1277"/>
        <p:guide orient="horz" pos="1457"/>
        <p:guide orient="horz" pos="1575"/>
        <p:guide orient="horz" pos="1749"/>
        <p:guide orient="horz" pos="2480"/>
        <p:guide orient="horz" pos="1153"/>
        <p:guide orient="horz" pos="338"/>
        <p:guide orient="horz" pos="200"/>
        <p:guide orient="horz" pos="2013"/>
        <p:guide orient="horz" pos="532"/>
        <p:guide orient="horz" pos="202"/>
        <p:guide pos="235"/>
        <p:guide pos="2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font" Target="fonts/font4.fntdata"/><Relationship Id="rId58" Type="http://customschemas.google.com/relationships/presentationmetadata" Target="metadata"/><Relationship Id="rId5" Type="http://schemas.openxmlformats.org/officeDocument/2006/relationships/slide" Target="slides/slide2.xml"/><Relationship Id="rId61" Type="http://schemas.openxmlformats.org/officeDocument/2006/relationships/theme" Target="theme/theme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font" Target="fonts/font7.fntdata"/><Relationship Id="rId8" Type="http://schemas.openxmlformats.org/officeDocument/2006/relationships/slide" Target="slides/slide5.xml"/><Relationship Id="rId51" Type="http://schemas.openxmlformats.org/officeDocument/2006/relationships/font" Target="fonts/font2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font" Target="fonts/font5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notesMaster" Target="notesMasters/notesMaster1.xml"/><Relationship Id="rId57" Type="http://schemas.openxmlformats.org/officeDocument/2006/relationships/font" Target="fonts/font8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font" Target="fonts/font3.fntdata"/><Relationship Id="rId6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59d3e3f11_0_2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g3f59d3e3f11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59d3e3f11_0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g3f59d3e3f11_0_3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g3f59d3e3f11_0_38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5977d359e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5977d359e_0_1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g3f5977d359e_0_1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5977d359e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5977d359e_0_1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g3f5977d359e_0_17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5977d359e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5977d359e_0_1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g3f5977d359e_0_18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5977d359e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5977d359e_0_1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g3f5977d359e_0_19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5977d359e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5977d359e_0_2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g3f5977d359e_0_20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5977d359e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5977d359e_0_2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g3f5977d359e_0_2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59d3e3f11_0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f59d3e3f11_0_3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3f59d3e3f11_0_3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59d3e3f11_0_3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f59d3e3f11_0_3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g3f59d3e3f11_0_3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59d3e3f11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f59d3e3f11_0_3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3f59d3e3f11_0_3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59d3e3f11_0_3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59d3e3f11_0_3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g3f59d3e3f11_0_36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59d3e3f11_0_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59d3e3f11_0_3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3f59d3e3f11_0_3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59a7897f7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59a7897f7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g3f59a7897f7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59a7897f7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f59a7897f7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f59a7897f7_0_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59a7897f7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f59a7897f7_0_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g3f59a7897f7_0_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59a7897f7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f59a7897f7_0_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g3f59a7897f7_0_6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59d3e3f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f59d3e3f1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g3f59d3e3f11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59d3e3f11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f59d3e3f11_0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g3f59d3e3f11_0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59d3e3f1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f59d3e3f11_0_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g3f59d3e3f11_0_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59d3e3f11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f59d3e3f11_0_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3f59d3e3f11_0_6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f59d3e3f11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f59d3e3f11_0_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g3f59d3e3f11_0_7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59d3e3f11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f59d3e3f11_0_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g3f59d3e3f11_0_8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f59d3e3f11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f59d3e3f11_0_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3f59d3e3f11_0_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f59d3e3f11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f59d3e3f11_0_1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3f59d3e3f11_0_10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f59d3e3f11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f59d3e3f11_0_1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g3f59d3e3f11_0_1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59d3e3f11_0_4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f59d3e3f11_0_4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g3f59d3e3f11_0_40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f59d3e3f11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f59d3e3f11_0_1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g3f59d3e3f11_0_1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f59d3e3f11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f59d3e3f11_0_1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g3f59d3e3f11_0_1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59d3e3f11_0_4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f59d3e3f11_0_4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g3f59d3e3f11_0_4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f59d3e3f11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f59d3e3f11_0_1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g3f59d3e3f11_0_1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f59d3e3f11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f59d3e3f11_0_1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g3f59d3e3f11_0_16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f59d3e3f11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f59d3e3f11_0_1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g3f59d3e3f11_0_1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f59d3e3f11_0_4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f59d3e3f11_0_4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g3f59d3e3f11_0_4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f59d3e3f11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f59d3e3f11_0_1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g3f59d3e3f11_0_18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f59d3e3f11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f59d3e3f11_0_1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g3f59d3e3f11_0_1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f59d3e3f11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f59d3e3f11_0_2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g3f59d3e3f11_0_20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f59d3e3f11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f59d3e3f11_0_2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g3f59d3e3f11_0_2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f59d3e3f11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f59d3e3f11_0_2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g3f59d3e3f11_0_2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f59d3e3f11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f59d3e3f11_0_2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g3f59d3e3f11_0_2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f5977d359e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f5977d359e_0_2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g3f5977d359e_0_2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10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514" y="70834"/>
            <a:ext cx="2720836" cy="54266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0"/>
          <p:cNvSpPr txBox="1">
            <a:spLocks noGrp="1"/>
          </p:cNvSpPr>
          <p:nvPr>
            <p:ph type="ctrTitle"/>
          </p:nvPr>
        </p:nvSpPr>
        <p:spPr>
          <a:xfrm>
            <a:off x="114300" y="483338"/>
            <a:ext cx="8915400" cy="2080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subTitle" idx="1"/>
          </p:nvPr>
        </p:nvSpPr>
        <p:spPr>
          <a:xfrm>
            <a:off x="0" y="3091898"/>
            <a:ext cx="8410575" cy="1889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2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70" cy="3598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12"/>
          <p:cNvSpPr txBox="1"/>
          <p:nvPr/>
        </p:nvSpPr>
        <p:spPr>
          <a:xfrm>
            <a:off x="4076885" y="4608512"/>
            <a:ext cx="9902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16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2" name="Google Shape;22;p12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398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/>
        </p:nvSpPr>
        <p:spPr>
          <a:xfrm>
            <a:off x="4076885" y="4608512"/>
            <a:ext cx="9902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24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5" name="Google Shape;25;p15"/>
          <p:cNvSpPr txBox="1">
            <a:spLocks noGrp="1"/>
          </p:cNvSpPr>
          <p:nvPr>
            <p:ph type="body" idx="1"/>
          </p:nvPr>
        </p:nvSpPr>
        <p:spPr>
          <a:xfrm>
            <a:off x="279082" y="119856"/>
            <a:ext cx="8641398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6"/>
          <p:cNvSpPr txBox="1"/>
          <p:nvPr/>
        </p:nvSpPr>
        <p:spPr>
          <a:xfrm>
            <a:off x="4076885" y="4608512"/>
            <a:ext cx="9902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24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8" name="Google Shape;28;p16"/>
          <p:cNvSpPr txBox="1">
            <a:spLocks noGrp="1"/>
          </p:cNvSpPr>
          <p:nvPr>
            <p:ph type="body" idx="1"/>
          </p:nvPr>
        </p:nvSpPr>
        <p:spPr>
          <a:xfrm>
            <a:off x="256066" y="1005931"/>
            <a:ext cx="4038600" cy="3089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body" idx="2"/>
          </p:nvPr>
        </p:nvSpPr>
        <p:spPr>
          <a:xfrm>
            <a:off x="4553746" y="1005931"/>
            <a:ext cx="4038600" cy="3089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body" idx="3"/>
          </p:nvPr>
        </p:nvSpPr>
        <p:spPr>
          <a:xfrm>
            <a:off x="279082" y="119856"/>
            <a:ext cx="8641398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>
            <a:spLocks noGrp="1"/>
          </p:cNvSpPr>
          <p:nvPr>
            <p:ph type="pic" idx="2"/>
          </p:nvPr>
        </p:nvSpPr>
        <p:spPr>
          <a:xfrm>
            <a:off x="3197172" y="996950"/>
            <a:ext cx="5511828" cy="2998993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17"/>
          <p:cNvSpPr txBox="1">
            <a:spLocks noGrp="1"/>
          </p:cNvSpPr>
          <p:nvPr>
            <p:ph type="body" idx="1"/>
          </p:nvPr>
        </p:nvSpPr>
        <p:spPr>
          <a:xfrm>
            <a:off x="261414" y="996950"/>
            <a:ext cx="2484666" cy="2998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17"/>
          <p:cNvSpPr txBox="1"/>
          <p:nvPr/>
        </p:nvSpPr>
        <p:spPr>
          <a:xfrm>
            <a:off x="4076885" y="4608512"/>
            <a:ext cx="9902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24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5" name="Google Shape;35;p17"/>
          <p:cNvSpPr txBox="1">
            <a:spLocks noGrp="1"/>
          </p:cNvSpPr>
          <p:nvPr>
            <p:ph type="body" idx="3"/>
          </p:nvPr>
        </p:nvSpPr>
        <p:spPr>
          <a:xfrm>
            <a:off x="279082" y="119856"/>
            <a:ext cx="8641398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>
            <a:spLocks noGrp="1"/>
          </p:cNvSpPr>
          <p:nvPr>
            <p:ph type="pic" idx="2"/>
          </p:nvPr>
        </p:nvSpPr>
        <p:spPr>
          <a:xfrm>
            <a:off x="377508" y="1001432"/>
            <a:ext cx="8288662" cy="3063901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18"/>
          <p:cNvSpPr txBox="1"/>
          <p:nvPr/>
        </p:nvSpPr>
        <p:spPr>
          <a:xfrm>
            <a:off x="4076885" y="4608512"/>
            <a:ext cx="9902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24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9" name="Google Shape;39;p18"/>
          <p:cNvSpPr txBox="1">
            <a:spLocks noGrp="1"/>
          </p:cNvSpPr>
          <p:nvPr>
            <p:ph type="body" idx="1"/>
          </p:nvPr>
        </p:nvSpPr>
        <p:spPr>
          <a:xfrm>
            <a:off x="279082" y="119856"/>
            <a:ext cx="8641398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4"/>
          <p:cNvSpPr txBox="1">
            <a:spLocks noGrp="1"/>
          </p:cNvSpPr>
          <p:nvPr>
            <p:ph type="body" idx="1"/>
          </p:nvPr>
        </p:nvSpPr>
        <p:spPr>
          <a:xfrm>
            <a:off x="274320" y="1887378"/>
            <a:ext cx="4097338" cy="102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4.jp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9" descr="PPT templates-1-widescreen-FINAL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33350"/>
            <a:ext cx="913587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9" descr="A close-up of a computer&#10;&#10;Description automatically generated with low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01876" y="-89677"/>
            <a:ext cx="9671808" cy="543169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11" descr="PPT templates-1-widescreen-FINAL-4.jp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0"/>
            <a:ext cx="913587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1"/>
          <p:cNvSpPr txBox="1">
            <a:spLocks noGrp="1"/>
          </p:cNvSpPr>
          <p:nvPr>
            <p:ph type="sldNum" idx="12"/>
          </p:nvPr>
        </p:nvSpPr>
        <p:spPr>
          <a:xfrm>
            <a:off x="4405866" y="4735279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3" descr="PPT templates-1-widescreen-FINAL-6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35879" cy="51435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Qx2D0sGx3gsHB-2_TN-nGwTQwah6zWXS/view?usp=sharing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rive.google.com/file/d/1KwAqN9eKRGcGYTtE7YTViemShvH3rwsw/view?usp=sharing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gJ9U74rnU32AkriZsIViic552k9dX8tW/view?usp=sharing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3OTzesNJVp6JUfNGMeB2Elr7r2Nv-Mxm/view?usp=sharing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rive.google.com/file/d/1Li021XPs8yDozgC1KAdr8Oc2yT3NrfRv/view?usp=sharing" TargetMode="Externa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vtYyX8Hd1Td9hDuLimmxS8SQwW4VGXM_/view?usp=sharing" TargetMode="External"/><Relationship Id="rId7" Type="http://schemas.openxmlformats.org/officeDocument/2006/relationships/hyperlink" Target="https://drive.google.com/file/d/1gca21J3NZEszAZJ3VtHgbA1P7GecEj-N/view?usp=sharing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rive.google.com/file/d/1IAhW6RWXdlV_mcKoBs8KYhzMtH7W4B0r/view?usp=sharing" TargetMode="External"/><Relationship Id="rId5" Type="http://schemas.openxmlformats.org/officeDocument/2006/relationships/hyperlink" Target="https://drive.google.com/file/d/1TlcYh8KgBsS92EGzfYM-R5rTlL13GnMP/view?usp=sharing" TargetMode="External"/><Relationship Id="rId4" Type="http://schemas.openxmlformats.org/officeDocument/2006/relationships/hyperlink" Target="https://drive.google.com/file/d/1Y1L9MmtW1Je-o_kMNeigHDN-hVqew2bN/view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"/>
          <p:cNvSpPr txBox="1">
            <a:spLocks noGrp="1"/>
          </p:cNvSpPr>
          <p:nvPr>
            <p:ph type="ctrTitle"/>
          </p:nvPr>
        </p:nvSpPr>
        <p:spPr>
          <a:xfrm>
            <a:off x="168442" y="483338"/>
            <a:ext cx="8861258" cy="2080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US"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Information Technology</a:t>
            </a:r>
            <a:b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FIT3143 Parallel Computing </a:t>
            </a:r>
            <a:b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Semester 2 2026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0" name="Google Shape;50;p1"/>
          <p:cNvSpPr txBox="1">
            <a:spLocks noGrp="1"/>
          </p:cNvSpPr>
          <p:nvPr>
            <p:ph type="subTitle" idx="1"/>
          </p:nvPr>
        </p:nvSpPr>
        <p:spPr>
          <a:xfrm>
            <a:off x="325783" y="3041583"/>
            <a:ext cx="8506792" cy="2158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Lab #1 (Week 3)</a:t>
            </a:r>
            <a:endParaRPr dirty="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POSIX Threads &amp; OpenMP </a:t>
            </a:r>
            <a:endParaRPr dirty="0"/>
          </a:p>
          <a:p>
            <a:pPr marL="0" lvl="0" indent="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59d3e3f11_0_249"/>
          <p:cNvSpPr txBox="1">
            <a:spLocks noGrp="1"/>
          </p:cNvSpPr>
          <p:nvPr>
            <p:ph type="body" idx="1"/>
          </p:nvPr>
        </p:nvSpPr>
        <p:spPr>
          <a:xfrm>
            <a:off x="262110" y="833886"/>
            <a:ext cx="8658300" cy="3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82600" indent="-457200">
              <a:spcBef>
                <a:spcPts val="400"/>
              </a:spcBef>
              <a:buSzPts val="2000"/>
              <a:buFont typeface="+mj-lt"/>
              <a:buAutoNum type="arabicPeriod"/>
            </a:pPr>
            <a:r>
              <a:rPr lang="en-US" sz="2000" b="1" dirty="0"/>
              <a:t>POSIX Threads - Part II</a:t>
            </a:r>
            <a:endParaRPr lang="en-US" sz="1850" b="1" dirty="0"/>
          </a:p>
          <a:p>
            <a:pPr marL="742950" lvl="1" indent="-285750"/>
            <a:r>
              <a:rPr lang="en-US" dirty="0"/>
              <a:t>Thread signaling using condition variables</a:t>
            </a:r>
          </a:p>
          <a:p>
            <a:pPr marL="25400" indent="0">
              <a:spcBef>
                <a:spcPts val="400"/>
              </a:spcBef>
              <a:buSzPts val="2000"/>
              <a:buNone/>
            </a:pPr>
            <a:endParaRPr sz="2000" b="1" dirty="0"/>
          </a:p>
          <a:p>
            <a:pPr indent="-457200">
              <a:spcBef>
                <a:spcPts val="600"/>
              </a:spcBef>
              <a:buSzPts val="2000"/>
              <a:buFont typeface="+mj-lt"/>
              <a:buAutoNum type="arabicPeriod" startAt="2"/>
            </a:pPr>
            <a:r>
              <a:rPr lang="en-US" sz="2000" b="1" dirty="0"/>
              <a:t>OpenMP</a:t>
            </a:r>
            <a:endParaRPr sz="2000" b="1"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dirty="0"/>
              <a:t>Basic architecture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dirty="0"/>
              <a:t>Parallelism with #pragma construct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dirty="0"/>
              <a:t>Critical section and atomicity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dirty="0"/>
              <a:t>Additional constructs (reduction, sections, etc.)</a:t>
            </a:r>
            <a:endParaRPr dirty="0"/>
          </a:p>
        </p:txBody>
      </p:sp>
      <p:sp>
        <p:nvSpPr>
          <p:cNvPr id="56" name="Google Shape;56;g3f59d3e3f11_0_249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Overview - Parallel computing on shared memory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59d3e3f11_0_382"/>
          <p:cNvSpPr txBox="1">
            <a:spLocks noGrp="1"/>
          </p:cNvSpPr>
          <p:nvPr>
            <p:ph type="body" idx="1"/>
          </p:nvPr>
        </p:nvSpPr>
        <p:spPr>
          <a:xfrm>
            <a:off x="274320" y="1887378"/>
            <a:ext cx="6987300" cy="10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</a:pPr>
            <a:r>
              <a:rPr lang="en-US"/>
              <a:t>POSIX* Thread  or  Pthread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</a:pP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2400"/>
              <a:t>Thread signaling using condition variables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5977d359e_0_163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Semaphores and Condition Variables share the same core operations (</a:t>
            </a:r>
            <a:r>
              <a:rPr lang="en-US" sz="1800" b="1"/>
              <a:t>wait() and signal()</a:t>
            </a:r>
            <a:r>
              <a:rPr lang="en-US" sz="1800"/>
              <a:t>)to provide mutual exclusion. However, they differ in how they manage waiting threads:</a:t>
            </a:r>
            <a:endParaRPr sz="1800"/>
          </a:p>
          <a:p>
            <a:pPr marL="914400" lvl="1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Semaphores are strictly conditioned on an internal semaphore count (blocking when zero, proceeding when non-zero).</a:t>
            </a:r>
            <a:endParaRPr sz="1800"/>
          </a:p>
          <a:p>
            <a:pPr marL="914400" lvl="1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Condition Variables are associated with an arbitrary logical condition defined by the programmer.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ts val="1000"/>
              </a:spcAft>
              <a:buSzPts val="1800"/>
              <a:buChar char="▪"/>
            </a:pPr>
            <a:r>
              <a:rPr lang="en-US" sz="1800"/>
              <a:t>Threads sleep on a condition variable until signaled. Once awakened, the thread checks the custom condition: if met, it proceeds; otherwise, it is directed back to waiting.</a:t>
            </a:r>
            <a:endParaRPr sz="1800"/>
          </a:p>
        </p:txBody>
      </p:sp>
      <p:sp>
        <p:nvSpPr>
          <p:cNvPr id="69" name="Google Shape;69;g3f5977d359e_0_163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Semaphores vs. Condition Variables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5977d359e_0_172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 b="1"/>
              <a:t>Problem 1: Lost Signals </a:t>
            </a:r>
            <a:endParaRPr sz="1800" b="1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Condition variables have no memory. If a signal is sent when no thread is waiting, the signal is permanently "lost."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A thread that blindly waits without checking the condition first may deadlock, waiting forever for a signal that already happened.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ts val="1000"/>
              </a:spcAft>
              <a:buSzPts val="1800"/>
              <a:buChar char="▪"/>
            </a:pPr>
            <a:r>
              <a:rPr lang="en-US" sz="1800"/>
              <a:t>Always test the condition before deciding to wait.</a:t>
            </a:r>
            <a:endParaRPr sz="1800"/>
          </a:p>
        </p:txBody>
      </p:sp>
      <p:sp>
        <p:nvSpPr>
          <p:cNvPr id="76" name="Google Shape;76;g3f5977d359e_0_172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Common Problems with Condition Variables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5977d359e_0_181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 b="1"/>
              <a:t>Problem 2: Spurious Wakeups</a:t>
            </a:r>
            <a:endParaRPr sz="1800" b="1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To maximize performance on multiprocessor systems, threads can occasionally wake up without actually receiving a signal.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ts val="1000"/>
              </a:spcAft>
              <a:buSzPts val="1800"/>
              <a:buChar char="▪"/>
            </a:pPr>
            <a:r>
              <a:rPr lang="en-US" sz="1800"/>
              <a:t>Always re-test the condition immediately after waking up. If it was a spurious wakeup, the thread should go right back to sleeping.</a:t>
            </a:r>
            <a:endParaRPr sz="1800"/>
          </a:p>
        </p:txBody>
      </p:sp>
      <p:sp>
        <p:nvSpPr>
          <p:cNvPr id="83" name="Google Shape;83;g3f5977d359e_0_181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Common Problems with Condition Variables </a:t>
            </a:r>
            <a:endParaRPr/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5977d359e_0_192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Mutex is associated with condition variable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Protects evaluation of the conditional expression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ts val="1000"/>
              </a:spcAft>
              <a:buSzPts val="1800"/>
              <a:buChar char="▪"/>
            </a:pPr>
            <a:r>
              <a:rPr lang="en-US" sz="1800"/>
              <a:t>Prevents race condition between signaling thread and threads waiting on condition variable</a:t>
            </a:r>
            <a:endParaRPr sz="1800"/>
          </a:p>
        </p:txBody>
      </p:sp>
      <p:sp>
        <p:nvSpPr>
          <p:cNvPr id="90" name="Google Shape;90;g3f5977d359e_0_192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Condition Variable and Mutex </a:t>
            </a:r>
            <a:endParaRPr/>
          </a:p>
        </p:txBody>
      </p:sp>
      <p:pic>
        <p:nvPicPr>
          <p:cNvPr id="91" name="Google Shape;91;g3f5977d359e_0_1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5631" y="1990979"/>
            <a:ext cx="5548370" cy="23364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3f5977d359e_0_192"/>
          <p:cNvSpPr txBox="1"/>
          <p:nvPr/>
        </p:nvSpPr>
        <p:spPr>
          <a:xfrm>
            <a:off x="1012375" y="2959400"/>
            <a:ext cx="3077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Avoid problems with lost and spurious signals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5977d359e_0_202"/>
          <p:cNvSpPr txBox="1">
            <a:spLocks noGrp="1"/>
          </p:cNvSpPr>
          <p:nvPr>
            <p:ph type="body" idx="1"/>
          </p:nvPr>
        </p:nvSpPr>
        <p:spPr>
          <a:xfrm>
            <a:off x="279075" y="977450"/>
            <a:ext cx="86415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 b="1"/>
              <a:t>pthread_cond_init, pthread_cond_destroy </a:t>
            </a:r>
            <a:endParaRPr sz="1800" b="1"/>
          </a:p>
          <a:p>
            <a:pPr marL="0" lvl="0" indent="45720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/>
              <a:t>initialize/destroy condition variable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/>
              <a:t>pthread_cond_wait </a:t>
            </a:r>
            <a:endParaRPr sz="1800" b="1"/>
          </a:p>
          <a:p>
            <a:pPr marL="0" lvl="0" indent="45720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/>
              <a:t>thread goes to sleep until signal of condition variable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/>
              <a:t>pthread_cond_signal </a:t>
            </a:r>
            <a:endParaRPr sz="1800" b="1"/>
          </a:p>
          <a:p>
            <a:pPr marL="0" lvl="0" indent="45720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/>
              <a:t>signal release of condition variable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/>
              <a:t>pthread_cond_broadcast </a:t>
            </a:r>
            <a:endParaRPr sz="1800" b="1"/>
          </a:p>
          <a:p>
            <a:pPr marL="0" lvl="0" indent="45720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800"/>
              <a:t>broadcast release of condition variable </a:t>
            </a:r>
            <a:endParaRPr sz="1800"/>
          </a:p>
        </p:txBody>
      </p:sp>
      <p:sp>
        <p:nvSpPr>
          <p:cNvPr id="99" name="Google Shape;99;g3f5977d359e_0_202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Condition Variables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5977d359e_0_210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Data types used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/>
              <a:t>pthread_cond_t</a:t>
            </a:r>
            <a:endParaRPr sz="1800" b="1"/>
          </a:p>
          <a:p>
            <a:pPr marL="0" lvl="0" indent="45720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/>
              <a:t>the condition variable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/>
              <a:t>pthread_condattr_t</a:t>
            </a:r>
            <a:endParaRPr sz="1800" b="1"/>
          </a:p>
          <a:p>
            <a:pPr marL="0" lvl="0" indent="45720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/>
              <a:t>condition variable attributes</a:t>
            </a:r>
            <a:endParaRPr sz="1800"/>
          </a:p>
          <a:p>
            <a:pPr marL="0" lvl="0" indent="45720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45720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45720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800"/>
              <a:t>Before use, condition variable (and mutex) must be initialized</a:t>
            </a:r>
            <a:endParaRPr sz="1800"/>
          </a:p>
        </p:txBody>
      </p:sp>
      <p:sp>
        <p:nvSpPr>
          <p:cNvPr id="106" name="Google Shape;106;g3f5977d359e_0_210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Condition Variable Types</a:t>
            </a:r>
            <a:endParaRPr/>
          </a:p>
        </p:txBody>
      </p:sp>
      <p:sp>
        <p:nvSpPr>
          <p:cNvPr id="107" name="Google Shape;107;g3f5977d359e_0_210"/>
          <p:cNvSpPr/>
          <p:nvPr/>
        </p:nvSpPr>
        <p:spPr>
          <a:xfrm>
            <a:off x="3869825" y="844550"/>
            <a:ext cx="5148600" cy="27996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Pthreads introduces </a:t>
            </a:r>
            <a:r>
              <a:rPr lang="en-US" sz="1700" b="1"/>
              <a:t>pthread_cond_t</a:t>
            </a:r>
            <a:r>
              <a:rPr lang="en-US" sz="1700"/>
              <a:t> to allow threads to pause execution until a </a:t>
            </a:r>
            <a:r>
              <a:rPr lang="en-US" sz="1700" b="1"/>
              <a:t>specific condition</a:t>
            </a:r>
            <a:r>
              <a:rPr lang="en-US" sz="1700"/>
              <a:t> is met. </a:t>
            </a:r>
            <a:endParaRPr sz="1700"/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A condition variable must be </a:t>
            </a:r>
            <a:r>
              <a:rPr lang="en-US" sz="1700" b="1"/>
              <a:t>initialized </a:t>
            </a:r>
            <a:r>
              <a:rPr lang="en-US" sz="1700"/>
              <a:t>before it can be used.</a:t>
            </a:r>
            <a:endParaRPr sz="1700"/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Condition variables stored in shared memory can also be </a:t>
            </a:r>
            <a:r>
              <a:rPr lang="en-US" sz="1700" b="1"/>
              <a:t>shared across</a:t>
            </a:r>
            <a:r>
              <a:rPr lang="en-US" sz="1700"/>
              <a:t> different processes.</a:t>
            </a:r>
            <a:endParaRPr sz="1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59d3e3f11_0_326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pthread_cond_init</a:t>
            </a:r>
            <a:endParaRPr/>
          </a:p>
        </p:txBody>
      </p:sp>
      <p:sp>
        <p:nvSpPr>
          <p:cNvPr id="114" name="Google Shape;114;g3f59d3e3f11_0_326"/>
          <p:cNvSpPr txBox="1">
            <a:spLocks noGrp="1"/>
          </p:cNvSpPr>
          <p:nvPr>
            <p:ph type="body" idx="1"/>
          </p:nvPr>
        </p:nvSpPr>
        <p:spPr>
          <a:xfrm>
            <a:off x="279075" y="904300"/>
            <a:ext cx="4684800" cy="2481900"/>
          </a:xfrm>
          <a:prstGeom prst="rect">
            <a:avLst/>
          </a:prstGeom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/>
              <a:t>int pthread_cond_init( cond, attr );</a:t>
            </a:r>
            <a:endParaRPr sz="1700" b="1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 b="1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b="1"/>
              <a:t>pthread_cond_t *cond</a:t>
            </a:r>
            <a:endParaRPr sz="1700" b="1"/>
          </a:p>
          <a:p>
            <a:pPr marL="24130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  condition variable to be initialized</a:t>
            </a:r>
            <a:endParaRPr sz="1700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b="1"/>
              <a:t>const pthread_condattr_t *attr</a:t>
            </a:r>
            <a:endParaRPr sz="1700" b="1"/>
          </a:p>
          <a:p>
            <a:pPr marL="24130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  attributes to be given to condition variable</a:t>
            </a:r>
            <a:endParaRPr sz="17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700" b="1"/>
          </a:p>
        </p:txBody>
      </p:sp>
      <p:sp>
        <p:nvSpPr>
          <p:cNvPr id="115" name="Google Shape;115;g3f59d3e3f11_0_326"/>
          <p:cNvSpPr/>
          <p:nvPr/>
        </p:nvSpPr>
        <p:spPr>
          <a:xfrm>
            <a:off x="4111025" y="1197700"/>
            <a:ext cx="4876200" cy="1265400"/>
          </a:xfrm>
          <a:prstGeom prst="roundRect">
            <a:avLst>
              <a:gd name="adj" fmla="val 16667"/>
            </a:avLst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 b="1">
                <a:solidFill>
                  <a:srgbClr val="3939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ENOMEM - insufficient memory for condition variable</a:t>
            </a:r>
            <a:endParaRPr sz="1500" b="1">
              <a:solidFill>
                <a:srgbClr val="3939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 b="1">
                <a:solidFill>
                  <a:srgbClr val="3939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EAGAIN - insufficient resources (other than memory)</a:t>
            </a:r>
            <a:endParaRPr sz="1500" b="1">
              <a:solidFill>
                <a:srgbClr val="3939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 b="1">
                <a:solidFill>
                  <a:srgbClr val="3939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EBUSY  - condition variable already intialized</a:t>
            </a:r>
            <a:endParaRPr sz="1500" b="1">
              <a:solidFill>
                <a:srgbClr val="3939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939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EINVAL - attr is invalid</a:t>
            </a:r>
            <a:endParaRPr sz="1500" b="1">
              <a:solidFill>
                <a:srgbClr val="3939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g3f59d3e3f11_0_326"/>
          <p:cNvSpPr/>
          <p:nvPr/>
        </p:nvSpPr>
        <p:spPr>
          <a:xfrm>
            <a:off x="373075" y="3445325"/>
            <a:ext cx="8547600" cy="9198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393938"/>
                </a:solidFill>
              </a:rPr>
              <a:t>Can also use the static, default initializer: </a:t>
            </a:r>
            <a:r>
              <a:rPr lang="en-US" sz="1600" b="1">
                <a:solidFill>
                  <a:srgbClr val="393938"/>
                </a:solidFill>
              </a:rPr>
              <a:t>PTHREAD_COND_INITIALIZER</a:t>
            </a:r>
            <a:endParaRPr sz="1600" b="1">
              <a:solidFill>
                <a:srgbClr val="393938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>
                <a:solidFill>
                  <a:srgbClr val="000099"/>
                </a:solidFill>
              </a:rPr>
              <a:t>pthread_cond_t cond1 = PTHREAD_COND_INITIALIZER;</a:t>
            </a:r>
            <a:endParaRPr sz="1600" b="1">
              <a:solidFill>
                <a:srgbClr val="000099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93938"/>
                </a:solidFill>
              </a:rPr>
              <a:t>which uses default attributes</a:t>
            </a:r>
            <a:endParaRPr sz="1600">
              <a:solidFill>
                <a:srgbClr val="393938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59d3e3f11_0_338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pthread_cond_wait</a:t>
            </a:r>
            <a:endParaRPr/>
          </a:p>
        </p:txBody>
      </p:sp>
      <p:sp>
        <p:nvSpPr>
          <p:cNvPr id="123" name="Google Shape;123;g3f59d3e3f11_0_338"/>
          <p:cNvSpPr txBox="1">
            <a:spLocks noGrp="1"/>
          </p:cNvSpPr>
          <p:nvPr>
            <p:ph type="body" idx="1"/>
          </p:nvPr>
        </p:nvSpPr>
        <p:spPr>
          <a:xfrm>
            <a:off x="279075" y="904300"/>
            <a:ext cx="4684800" cy="2481900"/>
          </a:xfrm>
          <a:prstGeom prst="rect">
            <a:avLst/>
          </a:prstGeom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>
                <a:solidFill>
                  <a:srgbClr val="393938"/>
                </a:solidFill>
              </a:rPr>
              <a:t>int pthread_cond_wait( cond, mutex );</a:t>
            </a:r>
            <a:endParaRPr sz="1600" b="1">
              <a:solidFill>
                <a:srgbClr val="393938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600" b="1">
              <a:solidFill>
                <a:srgbClr val="393938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>
                <a:solidFill>
                  <a:srgbClr val="393938"/>
                </a:solidFill>
              </a:rPr>
              <a:t>pthread_cond_t *cond</a:t>
            </a:r>
            <a:endParaRPr sz="1600" b="1">
              <a:solidFill>
                <a:srgbClr val="393938"/>
              </a:solidFill>
            </a:endParaRPr>
          </a:p>
          <a:p>
            <a:pPr marL="57150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393938"/>
                </a:solidFill>
              </a:rPr>
              <a:t>condition variable to wait on</a:t>
            </a:r>
            <a:endParaRPr sz="1600">
              <a:solidFill>
                <a:srgbClr val="393938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>
                <a:solidFill>
                  <a:srgbClr val="393938"/>
                </a:solidFill>
              </a:rPr>
              <a:t>pthread_mutex_t *mutex</a:t>
            </a:r>
            <a:endParaRPr sz="1600" b="1">
              <a:solidFill>
                <a:srgbClr val="393938"/>
              </a:solidFill>
            </a:endParaRPr>
          </a:p>
          <a:p>
            <a:pPr marL="57150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600">
                <a:solidFill>
                  <a:srgbClr val="393938"/>
                </a:solidFill>
              </a:rPr>
              <a:t>mutex to be unlocked</a:t>
            </a:r>
            <a:endParaRPr sz="1600" b="1"/>
          </a:p>
        </p:txBody>
      </p:sp>
      <p:sp>
        <p:nvSpPr>
          <p:cNvPr id="124" name="Google Shape;124;g3f59d3e3f11_0_338"/>
          <p:cNvSpPr/>
          <p:nvPr/>
        </p:nvSpPr>
        <p:spPr>
          <a:xfrm>
            <a:off x="279075" y="3315125"/>
            <a:ext cx="4684800" cy="964800"/>
          </a:xfrm>
          <a:prstGeom prst="roundRect">
            <a:avLst>
              <a:gd name="adj" fmla="val 16667"/>
            </a:avLst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>
                <a:solidFill>
                  <a:srgbClr val="3939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EINVAL  - cond or mutex is invalid</a:t>
            </a:r>
            <a:endParaRPr sz="1600" b="1">
              <a:solidFill>
                <a:srgbClr val="3939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>
                <a:solidFill>
                  <a:srgbClr val="3939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EINVAL  - different mutex for concurrent waits</a:t>
            </a:r>
            <a:endParaRPr sz="1600" b="1">
              <a:solidFill>
                <a:srgbClr val="3939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3939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EINVAL  - calling thread does not own mutex</a:t>
            </a:r>
            <a:endParaRPr sz="1500" b="1">
              <a:solidFill>
                <a:srgbClr val="3939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g3f59d3e3f11_0_338"/>
          <p:cNvSpPr/>
          <p:nvPr/>
        </p:nvSpPr>
        <p:spPr>
          <a:xfrm>
            <a:off x="4267725" y="958150"/>
            <a:ext cx="4776300" cy="21744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solidFill>
                  <a:srgbClr val="393938"/>
                </a:solidFill>
              </a:rPr>
              <a:t>Thread put to “sleep” waiting for signal on </a:t>
            </a:r>
            <a:r>
              <a:rPr lang="en-US" sz="1600" b="1">
                <a:solidFill>
                  <a:srgbClr val="393938"/>
                </a:solidFill>
              </a:rPr>
              <a:t>cond</a:t>
            </a:r>
            <a:endParaRPr sz="1600" b="1">
              <a:solidFill>
                <a:srgbClr val="393938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solidFill>
                  <a:srgbClr val="393938"/>
                </a:solidFill>
              </a:rPr>
              <a:t>Mutex is unlocked</a:t>
            </a:r>
            <a:endParaRPr sz="1600">
              <a:solidFill>
                <a:srgbClr val="393938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>
                <a:solidFill>
                  <a:srgbClr val="393938"/>
                </a:solidFill>
              </a:rPr>
              <a:t>Allows other threads to acquire lock</a:t>
            </a:r>
            <a:endParaRPr sz="1600">
              <a:solidFill>
                <a:srgbClr val="393938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>
                <a:solidFill>
                  <a:srgbClr val="393938"/>
                </a:solidFill>
              </a:rPr>
              <a:t>When signal arrives, mutex will be reacquired before </a:t>
            </a:r>
            <a:r>
              <a:rPr lang="en-US" sz="1600" b="1">
                <a:solidFill>
                  <a:srgbClr val="393938"/>
                </a:solidFill>
              </a:rPr>
              <a:t>pthread_cond_wait </a:t>
            </a:r>
            <a:r>
              <a:rPr lang="en-US" sz="1600">
                <a:solidFill>
                  <a:srgbClr val="393938"/>
                </a:solidFill>
              </a:rPr>
              <a:t>returns</a:t>
            </a:r>
            <a:endParaRPr sz="1600">
              <a:solidFill>
                <a:srgbClr val="393938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59d3e3f11_0_352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pthread_cond_signal</a:t>
            </a:r>
            <a:endParaRPr/>
          </a:p>
        </p:txBody>
      </p:sp>
      <p:sp>
        <p:nvSpPr>
          <p:cNvPr id="132" name="Google Shape;132;g3f59d3e3f11_0_352"/>
          <p:cNvSpPr txBox="1">
            <a:spLocks noGrp="1"/>
          </p:cNvSpPr>
          <p:nvPr>
            <p:ph type="body" idx="1"/>
          </p:nvPr>
        </p:nvSpPr>
        <p:spPr>
          <a:xfrm>
            <a:off x="279075" y="1072050"/>
            <a:ext cx="4684800" cy="2481900"/>
          </a:xfrm>
          <a:prstGeom prst="rect">
            <a:avLst/>
          </a:prstGeom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solidFill>
                  <a:srgbClr val="393938"/>
                </a:solidFill>
              </a:rPr>
              <a:t>int pthread_cond_signal( cond );</a:t>
            </a:r>
            <a:endParaRPr sz="1800" b="1">
              <a:solidFill>
                <a:srgbClr val="393938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800" b="1">
              <a:solidFill>
                <a:srgbClr val="393938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solidFill>
                  <a:srgbClr val="393938"/>
                </a:solidFill>
              </a:rPr>
              <a:t>pthread_cond_t *cond</a:t>
            </a:r>
            <a:endParaRPr sz="1800" b="1">
              <a:solidFill>
                <a:srgbClr val="393938"/>
              </a:solidFill>
            </a:endParaRPr>
          </a:p>
          <a:p>
            <a:pPr marL="57150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>
                <a:solidFill>
                  <a:srgbClr val="393938"/>
                </a:solidFill>
              </a:rPr>
              <a:t>condition variable to be signaled</a:t>
            </a:r>
            <a:endParaRPr sz="1800" b="1">
              <a:solidFill>
                <a:srgbClr val="393938"/>
              </a:solidFill>
            </a:endParaRPr>
          </a:p>
        </p:txBody>
      </p:sp>
      <p:sp>
        <p:nvSpPr>
          <p:cNvPr id="133" name="Google Shape;133;g3f59d3e3f11_0_352"/>
          <p:cNvSpPr/>
          <p:nvPr/>
        </p:nvSpPr>
        <p:spPr>
          <a:xfrm>
            <a:off x="279075" y="3629750"/>
            <a:ext cx="2737200" cy="469500"/>
          </a:xfrm>
          <a:prstGeom prst="roundRect">
            <a:avLst>
              <a:gd name="adj" fmla="val 16667"/>
            </a:avLst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3939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EINVAL  - cond is invalid</a:t>
            </a:r>
            <a:endParaRPr sz="1600" b="1">
              <a:solidFill>
                <a:srgbClr val="3939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g3f59d3e3f11_0_352"/>
          <p:cNvSpPr/>
          <p:nvPr/>
        </p:nvSpPr>
        <p:spPr>
          <a:xfrm>
            <a:off x="4395325" y="943250"/>
            <a:ext cx="4525200" cy="31560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>
                <a:solidFill>
                  <a:srgbClr val="393938"/>
                </a:solidFill>
              </a:rPr>
              <a:t>Signal condition variable, wake one waiting thread</a:t>
            </a:r>
            <a:endParaRPr sz="1700">
              <a:solidFill>
                <a:srgbClr val="393938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>
                <a:solidFill>
                  <a:srgbClr val="393938"/>
                </a:solidFill>
              </a:rPr>
              <a:t>If no threads waiting, no action taken</a:t>
            </a:r>
            <a:endParaRPr sz="1700">
              <a:solidFill>
                <a:srgbClr val="393938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US" sz="1700">
                <a:solidFill>
                  <a:srgbClr val="393938"/>
                </a:solidFill>
              </a:rPr>
              <a:t>Signal is not saved for future threads</a:t>
            </a:r>
            <a:endParaRPr sz="1700">
              <a:solidFill>
                <a:srgbClr val="393938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>
                <a:solidFill>
                  <a:srgbClr val="393938"/>
                </a:solidFill>
              </a:rPr>
              <a:t>Signaling thread need not have mutex</a:t>
            </a:r>
            <a:endParaRPr sz="1700">
              <a:solidFill>
                <a:srgbClr val="393938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US" sz="1700">
                <a:solidFill>
                  <a:srgbClr val="393938"/>
                </a:solidFill>
              </a:rPr>
              <a:t>May be more efficient</a:t>
            </a:r>
            <a:endParaRPr sz="1700">
              <a:solidFill>
                <a:srgbClr val="393938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US" sz="1700">
                <a:solidFill>
                  <a:srgbClr val="393938"/>
                </a:solidFill>
              </a:rPr>
              <a:t>Problem may occur if thread priorities used</a:t>
            </a:r>
            <a:endParaRPr sz="1700">
              <a:solidFill>
                <a:srgbClr val="393938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59d3e3f11_0_365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pthread_cond_broadcast</a:t>
            </a:r>
            <a:endParaRPr/>
          </a:p>
        </p:txBody>
      </p:sp>
      <p:sp>
        <p:nvSpPr>
          <p:cNvPr id="141" name="Google Shape;141;g3f59d3e3f11_0_365"/>
          <p:cNvSpPr txBox="1">
            <a:spLocks noGrp="1"/>
          </p:cNvSpPr>
          <p:nvPr>
            <p:ph type="body" idx="1"/>
          </p:nvPr>
        </p:nvSpPr>
        <p:spPr>
          <a:xfrm>
            <a:off x="279075" y="1072050"/>
            <a:ext cx="4684800" cy="2481900"/>
          </a:xfrm>
          <a:prstGeom prst="rect">
            <a:avLst/>
          </a:prstGeom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/>
              <a:t>int pthread_cond_broadcast( cond );</a:t>
            </a:r>
            <a:endParaRPr sz="1800" b="1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800" b="1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/>
              <a:t>pthread_cond_t *cond</a:t>
            </a:r>
            <a:endParaRPr sz="1800" b="1"/>
          </a:p>
          <a:p>
            <a:pPr marL="57150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condition variable to signal</a:t>
            </a:r>
            <a:endParaRPr sz="1800"/>
          </a:p>
          <a:p>
            <a:pPr marL="57150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sz="1800" b="1"/>
          </a:p>
        </p:txBody>
      </p:sp>
      <p:sp>
        <p:nvSpPr>
          <p:cNvPr id="142" name="Google Shape;142;g3f59d3e3f11_0_365"/>
          <p:cNvSpPr/>
          <p:nvPr/>
        </p:nvSpPr>
        <p:spPr>
          <a:xfrm>
            <a:off x="373075" y="3388050"/>
            <a:ext cx="2737200" cy="469500"/>
          </a:xfrm>
          <a:prstGeom prst="roundRect">
            <a:avLst>
              <a:gd name="adj" fmla="val 16667"/>
            </a:avLst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3939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EINVAL  - cond is invalid</a:t>
            </a:r>
            <a:endParaRPr sz="1600" b="1">
              <a:solidFill>
                <a:srgbClr val="3939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g3f59d3e3f11_0_365"/>
          <p:cNvSpPr/>
          <p:nvPr/>
        </p:nvSpPr>
        <p:spPr>
          <a:xfrm>
            <a:off x="4764950" y="1121850"/>
            <a:ext cx="4155600" cy="27357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>
                <a:solidFill>
                  <a:srgbClr val="393938"/>
                </a:solidFill>
              </a:rPr>
              <a:t>Wake all threads waiting on condition variable</a:t>
            </a:r>
            <a:endParaRPr sz="1700">
              <a:solidFill>
                <a:srgbClr val="393938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>
                <a:solidFill>
                  <a:srgbClr val="393938"/>
                </a:solidFill>
              </a:rPr>
              <a:t>If no threads waiting, no action taken</a:t>
            </a:r>
            <a:endParaRPr sz="1700">
              <a:solidFill>
                <a:srgbClr val="393938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US" sz="1700">
                <a:solidFill>
                  <a:srgbClr val="393938"/>
                </a:solidFill>
              </a:rPr>
              <a:t>Broadcast is not saved for future threads</a:t>
            </a:r>
            <a:endParaRPr sz="1700">
              <a:solidFill>
                <a:srgbClr val="393938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>
                <a:solidFill>
                  <a:srgbClr val="393938"/>
                </a:solidFill>
              </a:rPr>
              <a:t>Signaling thread need not have mutex</a:t>
            </a:r>
            <a:endParaRPr sz="1700">
              <a:solidFill>
                <a:srgbClr val="393938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59d3e3f11_0_394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Revisiting the Code from Week 2</a:t>
            </a:r>
            <a:endParaRPr sz="1800"/>
          </a:p>
          <a:p>
            <a:pPr marL="4572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▪"/>
            </a:pPr>
            <a:r>
              <a:rPr lang="en-US" sz="1800" u="sng">
                <a:solidFill>
                  <a:schemeClr val="hlink"/>
                </a:solidFill>
                <a:hlinkClick r:id="rId3"/>
              </a:rPr>
              <a:t>PThreadBasic.c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 sz="1800" u="sng">
                <a:solidFill>
                  <a:schemeClr val="hlink"/>
                </a:solidFill>
                <a:hlinkClick r:id="rId4"/>
              </a:rPr>
              <a:t>PThread_Cond.c</a:t>
            </a:r>
            <a:r>
              <a:rPr lang="en-US" sz="1800"/>
              <a:t> </a:t>
            </a:r>
            <a:endParaRPr sz="1800"/>
          </a:p>
        </p:txBody>
      </p:sp>
      <p:sp>
        <p:nvSpPr>
          <p:cNvPr id="150" name="Google Shape;150;g3f59d3e3f11_0_394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Recap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"/>
          <p:cNvSpPr txBox="1">
            <a:spLocks noGrp="1"/>
          </p:cNvSpPr>
          <p:nvPr>
            <p:ph type="body" idx="1"/>
          </p:nvPr>
        </p:nvSpPr>
        <p:spPr>
          <a:xfrm>
            <a:off x="274320" y="1887378"/>
            <a:ext cx="4097338" cy="102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</a:pPr>
            <a:r>
              <a:rPr lang="en-US"/>
              <a:t>OpenMP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 txBox="1">
            <a:spLocks noGrp="1"/>
          </p:cNvSpPr>
          <p:nvPr>
            <p:ph type="body" idx="1"/>
          </p:nvPr>
        </p:nvSpPr>
        <p:spPr>
          <a:xfrm>
            <a:off x="262110" y="697706"/>
            <a:ext cx="8658300" cy="37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700"/>
              <a:t>What Is OpenMP (or Open Multi-Processing)? 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sz="1700"/>
              <a:t>Compiler directives for multithreaded programming 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sz="1700"/>
              <a:t>Easy to create threaded Fortran and C/C++ codes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sz="1700"/>
              <a:t>Supports data parallelism model 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sz="1700"/>
              <a:t>Incremental parallelism 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sz="1700"/>
              <a:t>Combines serial and parallel code in single source 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34290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1700"/>
          </a:p>
        </p:txBody>
      </p:sp>
      <p:sp>
        <p:nvSpPr>
          <p:cNvPr id="161" name="Google Shape;161;p6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398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OpenMP</a:t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699300" y="2500325"/>
            <a:ext cx="7833000" cy="18144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Incremental parallelism is when you can modify only </a:t>
            </a:r>
            <a:r>
              <a:rPr lang="en-US" b="1"/>
              <a:t>a portion of the code</a:t>
            </a:r>
            <a:r>
              <a:rPr lang="en-US"/>
              <a:t> to test for better performance in parallel, then move on to another position in the code to test. Explicit threading models require a </a:t>
            </a:r>
            <a:r>
              <a:rPr lang="en-US" b="1"/>
              <a:t>change to all parts</a:t>
            </a:r>
            <a:r>
              <a:rPr lang="en-US"/>
              <a:t> of the code affected by the threading. 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Serial code can be “retrieved” </a:t>
            </a:r>
            <a:r>
              <a:rPr lang="en-US" b="1"/>
              <a:t>by not compiling with the OpenMP options</a:t>
            </a:r>
            <a:r>
              <a:rPr lang="en-US"/>
              <a:t> turned on. Assuming that there were no drastic changes required to get the code into a state that could be parallelized.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59a7897f7_0_12"/>
          <p:cNvSpPr txBox="1">
            <a:spLocks noGrp="1"/>
          </p:cNvSpPr>
          <p:nvPr>
            <p:ph type="body" idx="1"/>
          </p:nvPr>
        </p:nvSpPr>
        <p:spPr>
          <a:xfrm>
            <a:off x="262100" y="784550"/>
            <a:ext cx="88818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Fork-join model 	     </a:t>
            </a:r>
            <a:r>
              <a:rPr lang="en-US" sz="1800" b="1">
                <a:solidFill>
                  <a:srgbClr val="A64D79"/>
                </a:solidFill>
              </a:rPr>
              <a:t>// execution model of thread in OpenMP parallel regions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Work-sharing constructs 		</a:t>
            </a:r>
            <a:r>
              <a:rPr lang="en-US" sz="1800" b="1">
                <a:solidFill>
                  <a:srgbClr val="A64D79"/>
                </a:solidFill>
              </a:rPr>
              <a:t>// for the pragmas and directives</a:t>
            </a:r>
            <a:r>
              <a:rPr lang="en-US" sz="1800"/>
              <a:t> 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Data environment constructs 	</a:t>
            </a:r>
            <a:r>
              <a:rPr lang="en-US" sz="1800" b="1">
                <a:solidFill>
                  <a:srgbClr val="A64D79"/>
                </a:solidFill>
              </a:rPr>
              <a:t>// for the pragmas and directives</a:t>
            </a:r>
            <a:endParaRPr sz="1800" b="1">
              <a:solidFill>
                <a:srgbClr val="A64D79"/>
              </a:solidFill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Synchronization constructs 	</a:t>
            </a:r>
            <a:r>
              <a:rPr lang="en-US" sz="1800" b="1">
                <a:solidFill>
                  <a:srgbClr val="A64D79"/>
                </a:solidFill>
              </a:rPr>
              <a:t>// for the pragmas and directives</a:t>
            </a:r>
            <a:r>
              <a:rPr lang="en-US" sz="1800"/>
              <a:t> 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Extensive Application Program Interface (API) for finer control 	</a:t>
            </a:r>
            <a:endParaRPr sz="1800"/>
          </a:p>
          <a:p>
            <a:pPr marL="3200400" lvl="0" indent="45720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800" b="1">
                <a:solidFill>
                  <a:srgbClr val="A64D79"/>
                </a:solidFill>
              </a:rPr>
              <a:t>// for the pragmas and directives</a:t>
            </a:r>
            <a:r>
              <a:rPr lang="en-US" sz="1800"/>
              <a:t> </a:t>
            </a:r>
            <a:endParaRPr sz="1800"/>
          </a:p>
        </p:txBody>
      </p:sp>
      <p:sp>
        <p:nvSpPr>
          <p:cNvPr id="169" name="Google Shape;169;g3f59a7897f7_0_12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OpenMP* Architecture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59a7897f7_0_26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Fork-join parallelism: </a:t>
            </a:r>
            <a:endParaRPr sz="1800"/>
          </a:p>
          <a:p>
            <a:pPr marL="4572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▪"/>
            </a:pPr>
            <a:r>
              <a:rPr lang="en-US" sz="1800" b="1">
                <a:solidFill>
                  <a:srgbClr val="CC0000"/>
                </a:solidFill>
              </a:rPr>
              <a:t>Master thread</a:t>
            </a:r>
            <a:r>
              <a:rPr lang="en-US" sz="1800"/>
              <a:t> spawns a</a:t>
            </a:r>
            <a:r>
              <a:rPr lang="en-US" sz="1800" b="1">
                <a:solidFill>
                  <a:srgbClr val="CC0000"/>
                </a:solidFill>
              </a:rPr>
              <a:t> team of threads</a:t>
            </a:r>
            <a:r>
              <a:rPr lang="en-US" sz="1800"/>
              <a:t> as needed 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Parallelism is added incrementally: the sequential program evolves into a parallel program </a:t>
            </a:r>
            <a:endParaRPr sz="1800"/>
          </a:p>
        </p:txBody>
      </p:sp>
      <p:sp>
        <p:nvSpPr>
          <p:cNvPr id="176" name="Google Shape;176;g3f59a7897f7_0_26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Programming Model </a:t>
            </a:r>
            <a:endParaRPr/>
          </a:p>
        </p:txBody>
      </p:sp>
      <p:pic>
        <p:nvPicPr>
          <p:cNvPr id="177" name="Google Shape;177;g3f59a7897f7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4850" y="2009360"/>
            <a:ext cx="5716992" cy="240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59a7897f7_0_35"/>
          <p:cNvSpPr txBox="1">
            <a:spLocks noGrp="1"/>
          </p:cNvSpPr>
          <p:nvPr>
            <p:ph type="body" idx="1"/>
          </p:nvPr>
        </p:nvSpPr>
        <p:spPr>
          <a:xfrm>
            <a:off x="262100" y="784547"/>
            <a:ext cx="8658300" cy="12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700"/>
              <a:t>Most constructs in OpenMP* are compiler directives or pragmas.</a:t>
            </a:r>
            <a:endParaRPr sz="17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700"/>
              <a:t>For C and C++, the pragmas take the form:</a:t>
            </a:r>
            <a:endParaRPr sz="1700"/>
          </a:p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700">
                <a:latin typeface="Courier New"/>
                <a:ea typeface="Courier New"/>
                <a:cs typeface="Courier New"/>
                <a:sym typeface="Courier New"/>
              </a:rPr>
              <a:t>#pragam omp </a:t>
            </a:r>
            <a:r>
              <a:rPr lang="en-US" sz="1700" i="1">
                <a:latin typeface="Courier New"/>
                <a:ea typeface="Courier New"/>
                <a:cs typeface="Courier New"/>
                <a:sym typeface="Courier New"/>
              </a:rPr>
              <a:t>construct [clause [clause] … ]</a:t>
            </a:r>
            <a:endParaRPr sz="1700" i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700"/>
          </a:p>
        </p:txBody>
      </p:sp>
      <p:sp>
        <p:nvSpPr>
          <p:cNvPr id="184" name="Google Shape;184;g3f59a7897f7_0_35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OpenMP* Pragma Syntax </a:t>
            </a:r>
            <a:endParaRPr/>
          </a:p>
        </p:txBody>
      </p:sp>
      <p:cxnSp>
        <p:nvCxnSpPr>
          <p:cNvPr id="185" name="Google Shape;185;g3f59a7897f7_0_35"/>
          <p:cNvCxnSpPr>
            <a:endCxn id="186" idx="0"/>
          </p:cNvCxnSpPr>
          <p:nvPr/>
        </p:nvCxnSpPr>
        <p:spPr>
          <a:xfrm flipH="1">
            <a:off x="7713593" y="1501189"/>
            <a:ext cx="5400" cy="484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6" name="Google Shape;186;g3f59a7897f7_0_35"/>
          <p:cNvSpPr/>
          <p:nvPr/>
        </p:nvSpPr>
        <p:spPr>
          <a:xfrm>
            <a:off x="6331193" y="1985389"/>
            <a:ext cx="2764800" cy="4695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#pragma omp parallel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87" name="Google Shape;187;g3f59a7897f7_0_35"/>
          <p:cNvSpPr/>
          <p:nvPr/>
        </p:nvSpPr>
        <p:spPr>
          <a:xfrm>
            <a:off x="6359474" y="2776550"/>
            <a:ext cx="744600" cy="543900"/>
          </a:xfrm>
          <a:prstGeom prst="roundRect">
            <a:avLst>
              <a:gd name="adj" fmla="val 16667"/>
            </a:avLst>
          </a:prstGeom>
          <a:solidFill>
            <a:srgbClr val="674EA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Thread</a:t>
            </a:r>
            <a:endParaRPr sz="12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1</a:t>
            </a:r>
            <a:endParaRPr sz="1200" b="1">
              <a:solidFill>
                <a:schemeClr val="lt1"/>
              </a:solidFill>
            </a:endParaRPr>
          </a:p>
        </p:txBody>
      </p:sp>
      <p:sp>
        <p:nvSpPr>
          <p:cNvPr id="188" name="Google Shape;188;g3f59a7897f7_0_35"/>
          <p:cNvSpPr/>
          <p:nvPr/>
        </p:nvSpPr>
        <p:spPr>
          <a:xfrm>
            <a:off x="7351199" y="2776550"/>
            <a:ext cx="744600" cy="543900"/>
          </a:xfrm>
          <a:prstGeom prst="roundRect">
            <a:avLst>
              <a:gd name="adj" fmla="val 16667"/>
            </a:avLst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Thread</a:t>
            </a:r>
            <a:endParaRPr sz="12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2</a:t>
            </a:r>
            <a:endParaRPr sz="1200" b="1">
              <a:solidFill>
                <a:schemeClr val="lt1"/>
              </a:solidFill>
            </a:endParaRPr>
          </a:p>
        </p:txBody>
      </p:sp>
      <p:sp>
        <p:nvSpPr>
          <p:cNvPr id="189" name="Google Shape;189;g3f59a7897f7_0_35"/>
          <p:cNvSpPr/>
          <p:nvPr/>
        </p:nvSpPr>
        <p:spPr>
          <a:xfrm>
            <a:off x="8342924" y="2776550"/>
            <a:ext cx="744600" cy="543900"/>
          </a:xfrm>
          <a:prstGeom prst="roundRect">
            <a:avLst>
              <a:gd name="adj" fmla="val 16667"/>
            </a:avLst>
          </a:prstGeom>
          <a:solidFill>
            <a:srgbClr val="99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Thread</a:t>
            </a:r>
            <a:endParaRPr sz="12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3</a:t>
            </a:r>
            <a:endParaRPr sz="1200" b="1">
              <a:solidFill>
                <a:schemeClr val="lt1"/>
              </a:solidFill>
            </a:endParaRPr>
          </a:p>
        </p:txBody>
      </p:sp>
      <p:cxnSp>
        <p:nvCxnSpPr>
          <p:cNvPr id="190" name="Google Shape;190;g3f59a7897f7_0_35"/>
          <p:cNvCxnSpPr>
            <a:stCxn id="186" idx="4"/>
            <a:endCxn id="187" idx="0"/>
          </p:cNvCxnSpPr>
          <p:nvPr/>
        </p:nvCxnSpPr>
        <p:spPr>
          <a:xfrm flipH="1">
            <a:off x="6731693" y="2454889"/>
            <a:ext cx="981900" cy="321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1" name="Google Shape;191;g3f59a7897f7_0_35"/>
          <p:cNvCxnSpPr>
            <a:stCxn id="186" idx="4"/>
            <a:endCxn id="188" idx="0"/>
          </p:cNvCxnSpPr>
          <p:nvPr/>
        </p:nvCxnSpPr>
        <p:spPr>
          <a:xfrm>
            <a:off x="7713593" y="2454889"/>
            <a:ext cx="9900" cy="321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2" name="Google Shape;192;g3f59a7897f7_0_35"/>
          <p:cNvCxnSpPr>
            <a:stCxn id="186" idx="4"/>
            <a:endCxn id="189" idx="0"/>
          </p:cNvCxnSpPr>
          <p:nvPr/>
        </p:nvCxnSpPr>
        <p:spPr>
          <a:xfrm>
            <a:off x="7713593" y="2454889"/>
            <a:ext cx="1001700" cy="321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3" name="Google Shape;193;g3f59a7897f7_0_35"/>
          <p:cNvSpPr/>
          <p:nvPr/>
        </p:nvSpPr>
        <p:spPr>
          <a:xfrm>
            <a:off x="7595681" y="3715850"/>
            <a:ext cx="274500" cy="2829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4" name="Google Shape;194;g3f59a7897f7_0_35"/>
          <p:cNvCxnSpPr>
            <a:stCxn id="187" idx="2"/>
            <a:endCxn id="193" idx="1"/>
          </p:cNvCxnSpPr>
          <p:nvPr/>
        </p:nvCxnSpPr>
        <p:spPr>
          <a:xfrm>
            <a:off x="6731774" y="3320450"/>
            <a:ext cx="904200" cy="436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" name="Google Shape;195;g3f59a7897f7_0_35"/>
          <p:cNvCxnSpPr>
            <a:stCxn id="188" idx="2"/>
            <a:endCxn id="193" idx="0"/>
          </p:cNvCxnSpPr>
          <p:nvPr/>
        </p:nvCxnSpPr>
        <p:spPr>
          <a:xfrm>
            <a:off x="7723499" y="3320450"/>
            <a:ext cx="9300" cy="395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" name="Google Shape;196;g3f59a7897f7_0_35"/>
          <p:cNvCxnSpPr>
            <a:stCxn id="189" idx="2"/>
            <a:endCxn id="193" idx="7"/>
          </p:cNvCxnSpPr>
          <p:nvPr/>
        </p:nvCxnSpPr>
        <p:spPr>
          <a:xfrm flipH="1">
            <a:off x="7829924" y="3320450"/>
            <a:ext cx="885300" cy="436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" name="Google Shape;197;g3f59a7897f7_0_35"/>
          <p:cNvCxnSpPr>
            <a:stCxn id="193" idx="4"/>
          </p:cNvCxnSpPr>
          <p:nvPr/>
        </p:nvCxnSpPr>
        <p:spPr>
          <a:xfrm>
            <a:off x="7732931" y="3998750"/>
            <a:ext cx="3300" cy="330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8" name="Google Shape;198;g3f59a7897f7_0_35"/>
          <p:cNvSpPr txBox="1"/>
          <p:nvPr/>
        </p:nvSpPr>
        <p:spPr>
          <a:xfrm>
            <a:off x="160986" y="2003617"/>
            <a:ext cx="63312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Parallel Regions </a:t>
            </a:r>
            <a:endParaRPr sz="1700" b="1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▪"/>
            </a:pPr>
            <a:r>
              <a:rPr lang="en-US" sz="1700">
                <a:solidFill>
                  <a:schemeClr val="dk1"/>
                </a:solidFill>
              </a:rPr>
              <a:t>Defines parallel region over structured block of code 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▪"/>
            </a:pPr>
            <a:r>
              <a:rPr lang="en-US" sz="1700">
                <a:solidFill>
                  <a:schemeClr val="dk1"/>
                </a:solidFill>
              </a:rPr>
              <a:t>Threads are spawned as execution enters the parallel region.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▪"/>
            </a:pPr>
            <a:r>
              <a:rPr lang="en-US" sz="1700">
                <a:solidFill>
                  <a:schemeClr val="dk1"/>
                </a:solidFill>
              </a:rPr>
              <a:t>Threads implicitly synchronize (block) at the end of the region before the main thread continues.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▪"/>
            </a:pPr>
            <a:r>
              <a:rPr lang="en-US" sz="1700">
                <a:solidFill>
                  <a:schemeClr val="dk1"/>
                </a:solidFill>
              </a:rPr>
              <a:t>Variables are shared by default across all threads, unless explicitly marked as private.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59a7897f7_0_64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Set environment variable for number of threads:</a:t>
            </a:r>
            <a:endParaRPr sz="18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	</a:t>
            </a:r>
            <a:r>
              <a:rPr lang="en-US" sz="1800" b="1">
                <a:latin typeface="Arial Narrow"/>
                <a:ea typeface="Arial Narrow"/>
                <a:cs typeface="Arial Narrow"/>
                <a:sym typeface="Arial Narrow"/>
              </a:rPr>
              <a:t>set OMP_NUM_THREADS=4</a:t>
            </a:r>
            <a:endParaRPr sz="1800" b="1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There is no standard default for this variable</a:t>
            </a:r>
            <a:endParaRPr sz="1800"/>
          </a:p>
          <a:p>
            <a:pPr marL="4572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Many systems: 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# of threads = # of processors 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Intel compilers use this default </a:t>
            </a:r>
            <a:endParaRPr sz="1800"/>
          </a:p>
        </p:txBody>
      </p:sp>
      <p:sp>
        <p:nvSpPr>
          <p:cNvPr id="205" name="Google Shape;205;g3f59a7897f7_0_64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How Many Threads? </a:t>
            </a:r>
            <a:endParaRPr/>
          </a:p>
        </p:txBody>
      </p:sp>
      <p:sp>
        <p:nvSpPr>
          <p:cNvPr id="206" name="Google Shape;206;g3f59a7897f7_0_64"/>
          <p:cNvSpPr/>
          <p:nvPr/>
        </p:nvSpPr>
        <p:spPr>
          <a:xfrm>
            <a:off x="875700" y="2776550"/>
            <a:ext cx="7392600" cy="15381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The order in which the system will try to determine the number threads is:  </a:t>
            </a:r>
            <a:endParaRPr sz="1500" b="1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 sz="1500" b="1"/>
              <a:t>Default </a:t>
            </a:r>
            <a:endParaRPr sz="1500" b="1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 sz="1500" b="1"/>
              <a:t>Environment variable </a:t>
            </a:r>
            <a:endParaRPr sz="1500" b="1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 sz="1500" b="1"/>
              <a:t>API call </a:t>
            </a:r>
            <a:endParaRPr sz="1500"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Each successive method (if present) will override the previous. </a:t>
            </a:r>
            <a:endParaRPr sz="1500"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59d3e3f11_0_0"/>
          <p:cNvSpPr txBox="1">
            <a:spLocks noGrp="1"/>
          </p:cNvSpPr>
          <p:nvPr>
            <p:ph type="body" idx="1"/>
          </p:nvPr>
        </p:nvSpPr>
        <p:spPr>
          <a:xfrm>
            <a:off x="279066" y="768306"/>
            <a:ext cx="4038600" cy="3089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 b="1"/>
              <a:t>Serial Code</a:t>
            </a:r>
            <a:r>
              <a:rPr lang="en-US" sz="1300"/>
              <a:t> </a:t>
            </a:r>
            <a:endParaRPr sz="13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#include &lt;stdio.h&gt;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int main() { 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int i; 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printf("Hello World\n"); 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for(i=0;i&lt;6;i++) 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printf("Iter:%d\n",i); 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printf("GoodBye World\n"); 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3" name="Google Shape;213;g3f59d3e3f11_0_0"/>
          <p:cNvSpPr txBox="1">
            <a:spLocks noGrp="1"/>
          </p:cNvSpPr>
          <p:nvPr>
            <p:ph type="body" idx="2"/>
          </p:nvPr>
        </p:nvSpPr>
        <p:spPr>
          <a:xfrm>
            <a:off x="4553750" y="719674"/>
            <a:ext cx="4038600" cy="378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 b="1"/>
              <a:t>Parallel Code</a:t>
            </a:r>
            <a:endParaRPr sz="1300" b="1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#include &lt;stdio.h&gt;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#include &lt;omp.h&gt;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int main() { 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#pragma omp parallel 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int i; 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printf("Hello World\n"); 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#pragma omp for 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for(i=0;i&lt;6;i++) 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printf("Iter:%d\n",i); 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printf("GoodBye World\n"); 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4" name="Google Shape;214;g3f59d3e3f11_0_0"/>
          <p:cNvSpPr txBox="1">
            <a:spLocks noGrp="1"/>
          </p:cNvSpPr>
          <p:nvPr>
            <p:ph type="body" idx="3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800"/>
              <a:t>Example I</a:t>
            </a:r>
            <a:endParaRPr sz="2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59d3e3f11_0_9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Work-sharing Construct - “for” work-sharing pragma </a:t>
            </a:r>
            <a:endParaRPr/>
          </a:p>
        </p:txBody>
      </p:sp>
      <p:sp>
        <p:nvSpPr>
          <p:cNvPr id="221" name="Google Shape;221;g3f59d3e3f11_0_9"/>
          <p:cNvSpPr/>
          <p:nvPr/>
        </p:nvSpPr>
        <p:spPr>
          <a:xfrm>
            <a:off x="262100" y="757225"/>
            <a:ext cx="3116700" cy="1410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#pragma omp parallel</a:t>
            </a:r>
            <a:endParaRPr sz="1800" b="1">
              <a:solidFill>
                <a:schemeClr val="dk2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B45F06"/>
                </a:solidFill>
                <a:latin typeface="Arial Narrow"/>
                <a:ea typeface="Arial Narrow"/>
                <a:cs typeface="Arial Narrow"/>
                <a:sym typeface="Arial Narrow"/>
              </a:rPr>
              <a:t>#pragma omp for </a:t>
            </a:r>
            <a:endParaRPr sz="1800" b="1">
              <a:solidFill>
                <a:srgbClr val="B45F06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B45F06"/>
                </a:solidFill>
                <a:latin typeface="Arial Narrow"/>
                <a:ea typeface="Arial Narrow"/>
                <a:cs typeface="Arial Narrow"/>
                <a:sym typeface="Arial Narrow"/>
              </a:rPr>
              <a:t>for (i=0; i&lt;N; i++){</a:t>
            </a:r>
            <a:endParaRPr sz="1800" b="1">
              <a:solidFill>
                <a:srgbClr val="B45F06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Do_Work(i);</a:t>
            </a:r>
            <a:endParaRPr sz="1800" b="1">
              <a:solidFill>
                <a:schemeClr val="dk2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B45F06"/>
                </a:solidFill>
                <a:latin typeface="Arial Narrow"/>
                <a:ea typeface="Arial Narrow"/>
                <a:cs typeface="Arial Narrow"/>
                <a:sym typeface="Arial Narrow"/>
              </a:rPr>
              <a:t>} </a:t>
            </a:r>
            <a:endParaRPr sz="1800" b="1">
              <a:solidFill>
                <a:srgbClr val="B45F06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22" name="Google Shape;222;g3f59d3e3f11_0_9"/>
          <p:cNvSpPr/>
          <p:nvPr/>
        </p:nvSpPr>
        <p:spPr>
          <a:xfrm>
            <a:off x="262100" y="2313000"/>
            <a:ext cx="4037400" cy="1245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#pragma omp parallel</a:t>
            </a:r>
            <a:endParaRPr sz="1600" b="1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#pragma omp for 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for(i = 0; i &lt; 12; i++) </a:t>
            </a:r>
            <a:endParaRPr sz="1600" b="1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c[i] = a[i] + b[i] </a:t>
            </a:r>
            <a:endParaRPr sz="1600" b="1">
              <a:solidFill>
                <a:srgbClr val="B45F0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3" name="Google Shape;223;g3f59d3e3f11_0_9"/>
          <p:cNvSpPr txBox="1"/>
          <p:nvPr/>
        </p:nvSpPr>
        <p:spPr>
          <a:xfrm>
            <a:off x="186825" y="3498400"/>
            <a:ext cx="41127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Threads are assigned an independent set of iterations and must wait at the end of work-sharing construct.</a:t>
            </a:r>
            <a:endParaRPr sz="1500"/>
          </a:p>
        </p:txBody>
      </p:sp>
      <p:cxnSp>
        <p:nvCxnSpPr>
          <p:cNvPr id="224" name="Google Shape;224;g3f59d3e3f11_0_9"/>
          <p:cNvCxnSpPr>
            <a:endCxn id="225" idx="0"/>
          </p:cNvCxnSpPr>
          <p:nvPr/>
        </p:nvCxnSpPr>
        <p:spPr>
          <a:xfrm flipH="1">
            <a:off x="7741625" y="718984"/>
            <a:ext cx="5400" cy="484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5" name="Google Shape;225;g3f59d3e3f11_0_9"/>
          <p:cNvSpPr/>
          <p:nvPr/>
        </p:nvSpPr>
        <p:spPr>
          <a:xfrm>
            <a:off x="6359225" y="1203184"/>
            <a:ext cx="2764800" cy="3903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latin typeface="Arial Narrow"/>
                <a:ea typeface="Arial Narrow"/>
                <a:cs typeface="Arial Narrow"/>
                <a:sym typeface="Arial Narrow"/>
              </a:rPr>
              <a:t>#pragma omp parallel</a:t>
            </a:r>
            <a:endParaRPr sz="1300"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26" name="Google Shape;226;g3f59d3e3f11_0_9"/>
          <p:cNvSpPr/>
          <p:nvPr/>
        </p:nvSpPr>
        <p:spPr>
          <a:xfrm>
            <a:off x="6359475" y="2315340"/>
            <a:ext cx="744600" cy="858900"/>
          </a:xfrm>
          <a:prstGeom prst="roundRect">
            <a:avLst>
              <a:gd name="adj" fmla="val 16667"/>
            </a:avLst>
          </a:prstGeom>
          <a:solidFill>
            <a:srgbClr val="674EA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i = 0</a:t>
            </a:r>
            <a:endParaRPr sz="12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i = 1</a:t>
            </a:r>
            <a:endParaRPr sz="12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i = 2</a:t>
            </a:r>
            <a:endParaRPr sz="12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i = 3</a:t>
            </a:r>
            <a:endParaRPr sz="1200" b="1">
              <a:solidFill>
                <a:schemeClr val="lt1"/>
              </a:solidFill>
            </a:endParaRPr>
          </a:p>
        </p:txBody>
      </p:sp>
      <p:sp>
        <p:nvSpPr>
          <p:cNvPr id="227" name="Google Shape;227;g3f59d3e3f11_0_9"/>
          <p:cNvSpPr/>
          <p:nvPr/>
        </p:nvSpPr>
        <p:spPr>
          <a:xfrm>
            <a:off x="7351200" y="2315340"/>
            <a:ext cx="744600" cy="858900"/>
          </a:xfrm>
          <a:prstGeom prst="roundRect">
            <a:avLst>
              <a:gd name="adj" fmla="val 16667"/>
            </a:avLst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>
                <a:solidFill>
                  <a:schemeClr val="lt1"/>
                </a:solidFill>
              </a:rPr>
              <a:t>i = 0</a:t>
            </a:r>
            <a:endParaRPr sz="12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>
                <a:solidFill>
                  <a:schemeClr val="lt1"/>
                </a:solidFill>
              </a:rPr>
              <a:t>i = 1</a:t>
            </a:r>
            <a:endParaRPr sz="12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>
                <a:solidFill>
                  <a:schemeClr val="lt1"/>
                </a:solidFill>
              </a:rPr>
              <a:t>i = 2</a:t>
            </a:r>
            <a:endParaRPr sz="12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i = 3</a:t>
            </a:r>
            <a:endParaRPr sz="1200" b="1">
              <a:solidFill>
                <a:schemeClr val="lt1"/>
              </a:solidFill>
            </a:endParaRPr>
          </a:p>
        </p:txBody>
      </p:sp>
      <p:sp>
        <p:nvSpPr>
          <p:cNvPr id="228" name="Google Shape;228;g3f59d3e3f11_0_9"/>
          <p:cNvSpPr/>
          <p:nvPr/>
        </p:nvSpPr>
        <p:spPr>
          <a:xfrm>
            <a:off x="8342925" y="2315340"/>
            <a:ext cx="744600" cy="858900"/>
          </a:xfrm>
          <a:prstGeom prst="roundRect">
            <a:avLst>
              <a:gd name="adj" fmla="val 16667"/>
            </a:avLst>
          </a:prstGeom>
          <a:solidFill>
            <a:srgbClr val="99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>
                <a:solidFill>
                  <a:schemeClr val="lt1"/>
                </a:solidFill>
              </a:rPr>
              <a:t>i = 0</a:t>
            </a:r>
            <a:endParaRPr sz="12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>
                <a:solidFill>
                  <a:schemeClr val="lt1"/>
                </a:solidFill>
              </a:rPr>
              <a:t>i = 1</a:t>
            </a:r>
            <a:endParaRPr sz="12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>
                <a:solidFill>
                  <a:schemeClr val="lt1"/>
                </a:solidFill>
              </a:rPr>
              <a:t>i = 2</a:t>
            </a:r>
            <a:endParaRPr sz="12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i = 3</a:t>
            </a:r>
            <a:endParaRPr sz="1200" b="1">
              <a:solidFill>
                <a:schemeClr val="lt1"/>
              </a:solidFill>
            </a:endParaRPr>
          </a:p>
        </p:txBody>
      </p:sp>
      <p:cxnSp>
        <p:nvCxnSpPr>
          <p:cNvPr id="229" name="Google Shape;229;g3f59d3e3f11_0_9"/>
          <p:cNvCxnSpPr>
            <a:stCxn id="225" idx="4"/>
            <a:endCxn id="226" idx="0"/>
          </p:cNvCxnSpPr>
          <p:nvPr/>
        </p:nvCxnSpPr>
        <p:spPr>
          <a:xfrm flipH="1">
            <a:off x="6731825" y="1593484"/>
            <a:ext cx="1009800" cy="721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0" name="Google Shape;230;g3f59d3e3f11_0_9"/>
          <p:cNvCxnSpPr>
            <a:stCxn id="225" idx="4"/>
            <a:endCxn id="227" idx="0"/>
          </p:cNvCxnSpPr>
          <p:nvPr/>
        </p:nvCxnSpPr>
        <p:spPr>
          <a:xfrm flipH="1">
            <a:off x="7723625" y="1593484"/>
            <a:ext cx="18000" cy="721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1" name="Google Shape;231;g3f59d3e3f11_0_9"/>
          <p:cNvCxnSpPr>
            <a:stCxn id="225" idx="4"/>
            <a:endCxn id="228" idx="0"/>
          </p:cNvCxnSpPr>
          <p:nvPr/>
        </p:nvCxnSpPr>
        <p:spPr>
          <a:xfrm>
            <a:off x="7741625" y="1593484"/>
            <a:ext cx="973500" cy="721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2" name="Google Shape;232;g3f59d3e3f11_0_9"/>
          <p:cNvSpPr/>
          <p:nvPr/>
        </p:nvSpPr>
        <p:spPr>
          <a:xfrm>
            <a:off x="7602731" y="3914390"/>
            <a:ext cx="274500" cy="2829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33" name="Google Shape;233;g3f59d3e3f11_0_9"/>
          <p:cNvCxnSpPr>
            <a:stCxn id="226" idx="2"/>
            <a:endCxn id="232" idx="1"/>
          </p:cNvCxnSpPr>
          <p:nvPr/>
        </p:nvCxnSpPr>
        <p:spPr>
          <a:xfrm>
            <a:off x="6731775" y="3174240"/>
            <a:ext cx="911100" cy="781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4" name="Google Shape;234;g3f59d3e3f11_0_9"/>
          <p:cNvCxnSpPr>
            <a:stCxn id="227" idx="2"/>
            <a:endCxn id="232" idx="0"/>
          </p:cNvCxnSpPr>
          <p:nvPr/>
        </p:nvCxnSpPr>
        <p:spPr>
          <a:xfrm>
            <a:off x="7723500" y="3174240"/>
            <a:ext cx="16500" cy="740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5" name="Google Shape;235;g3f59d3e3f11_0_9"/>
          <p:cNvCxnSpPr>
            <a:stCxn id="228" idx="2"/>
            <a:endCxn id="232" idx="7"/>
          </p:cNvCxnSpPr>
          <p:nvPr/>
        </p:nvCxnSpPr>
        <p:spPr>
          <a:xfrm flipH="1">
            <a:off x="7837125" y="3174240"/>
            <a:ext cx="878100" cy="781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6" name="Google Shape;236;g3f59d3e3f11_0_9"/>
          <p:cNvCxnSpPr>
            <a:stCxn id="232" idx="4"/>
          </p:cNvCxnSpPr>
          <p:nvPr/>
        </p:nvCxnSpPr>
        <p:spPr>
          <a:xfrm>
            <a:off x="7739981" y="4197290"/>
            <a:ext cx="3300" cy="330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7" name="Google Shape;237;g3f59d3e3f11_0_9"/>
          <p:cNvSpPr/>
          <p:nvPr/>
        </p:nvSpPr>
        <p:spPr>
          <a:xfrm>
            <a:off x="6357575" y="1779073"/>
            <a:ext cx="2764800" cy="3903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latin typeface="Arial Narrow"/>
                <a:ea typeface="Arial Narrow"/>
                <a:cs typeface="Arial Narrow"/>
                <a:sym typeface="Arial Narrow"/>
              </a:rPr>
              <a:t>#pragma omp for</a:t>
            </a:r>
            <a:endParaRPr sz="1300"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38" name="Google Shape;238;g3f59d3e3f11_0_9"/>
          <p:cNvSpPr/>
          <p:nvPr/>
        </p:nvSpPr>
        <p:spPr>
          <a:xfrm>
            <a:off x="6341100" y="3260073"/>
            <a:ext cx="2764800" cy="3903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latin typeface="Arial Narrow"/>
                <a:ea typeface="Arial Narrow"/>
                <a:cs typeface="Arial Narrow"/>
                <a:sym typeface="Arial Narrow"/>
              </a:rPr>
              <a:t>Implicit barrier</a:t>
            </a:r>
            <a:endParaRPr sz="1300"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39" name="Google Shape;239;g3f59d3e3f11_0_9"/>
          <p:cNvSpPr txBox="1"/>
          <p:nvPr/>
        </p:nvSpPr>
        <p:spPr>
          <a:xfrm>
            <a:off x="3510263" y="757221"/>
            <a:ext cx="2889600" cy="1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Splits loop iterations across multiple threads.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/>
              <a:t>Must be placed inside an existing parallel region.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/>
              <a:t>Must precede the loop</a:t>
            </a:r>
            <a:endParaRPr sz="15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59d3e3f11_0_40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Work-sharing Construct - “for” work-sharing pragma </a:t>
            </a:r>
            <a:endParaRPr/>
          </a:p>
        </p:txBody>
      </p:sp>
      <p:sp>
        <p:nvSpPr>
          <p:cNvPr id="246" name="Google Shape;246;g3f59d3e3f11_0_40"/>
          <p:cNvSpPr/>
          <p:nvPr/>
        </p:nvSpPr>
        <p:spPr>
          <a:xfrm>
            <a:off x="279075" y="1081100"/>
            <a:ext cx="4037400" cy="1245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#pragma omp parallel</a:t>
            </a:r>
            <a:endParaRPr sz="1600" b="1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#pragma omp for 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for(i = 0; i &lt; 12; i++) </a:t>
            </a:r>
            <a:endParaRPr sz="1600" b="1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c[i] = a[i] + b[i] </a:t>
            </a:r>
            <a:endParaRPr sz="1600" b="1">
              <a:solidFill>
                <a:srgbClr val="B45F0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47" name="Google Shape;247;g3f59d3e3f11_0_40"/>
          <p:cNvCxnSpPr>
            <a:endCxn id="248" idx="0"/>
          </p:cNvCxnSpPr>
          <p:nvPr/>
        </p:nvCxnSpPr>
        <p:spPr>
          <a:xfrm flipH="1">
            <a:off x="7741625" y="718984"/>
            <a:ext cx="5400" cy="484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8" name="Google Shape;248;g3f59d3e3f11_0_40"/>
          <p:cNvSpPr/>
          <p:nvPr/>
        </p:nvSpPr>
        <p:spPr>
          <a:xfrm>
            <a:off x="6359225" y="1203184"/>
            <a:ext cx="2764800" cy="3903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latin typeface="Arial Narrow"/>
                <a:ea typeface="Arial Narrow"/>
                <a:cs typeface="Arial Narrow"/>
                <a:sym typeface="Arial Narrow"/>
              </a:rPr>
              <a:t>#pragma omp parallel</a:t>
            </a:r>
            <a:endParaRPr sz="1300"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49" name="Google Shape;249;g3f59d3e3f11_0_40"/>
          <p:cNvSpPr/>
          <p:nvPr/>
        </p:nvSpPr>
        <p:spPr>
          <a:xfrm>
            <a:off x="6359475" y="2315340"/>
            <a:ext cx="744600" cy="858900"/>
          </a:xfrm>
          <a:prstGeom prst="roundRect">
            <a:avLst>
              <a:gd name="adj" fmla="val 16667"/>
            </a:avLst>
          </a:prstGeom>
          <a:solidFill>
            <a:srgbClr val="674EA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i = 0</a:t>
            </a:r>
            <a:endParaRPr sz="12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i = 1</a:t>
            </a:r>
            <a:endParaRPr sz="12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i = 2</a:t>
            </a:r>
            <a:endParaRPr sz="12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i = 3</a:t>
            </a:r>
            <a:endParaRPr sz="1200" b="1">
              <a:solidFill>
                <a:schemeClr val="lt1"/>
              </a:solidFill>
            </a:endParaRPr>
          </a:p>
        </p:txBody>
      </p:sp>
      <p:sp>
        <p:nvSpPr>
          <p:cNvPr id="250" name="Google Shape;250;g3f59d3e3f11_0_40"/>
          <p:cNvSpPr/>
          <p:nvPr/>
        </p:nvSpPr>
        <p:spPr>
          <a:xfrm>
            <a:off x="7351200" y="2315340"/>
            <a:ext cx="744600" cy="858900"/>
          </a:xfrm>
          <a:prstGeom prst="roundRect">
            <a:avLst>
              <a:gd name="adj" fmla="val 16667"/>
            </a:avLst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i = 0</a:t>
            </a:r>
            <a:endParaRPr sz="12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i = 1</a:t>
            </a:r>
            <a:endParaRPr sz="12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i = 2</a:t>
            </a:r>
            <a:endParaRPr sz="12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i = 3</a:t>
            </a:r>
            <a:endParaRPr sz="1200" b="1">
              <a:solidFill>
                <a:schemeClr val="lt1"/>
              </a:solidFill>
            </a:endParaRPr>
          </a:p>
        </p:txBody>
      </p:sp>
      <p:sp>
        <p:nvSpPr>
          <p:cNvPr id="251" name="Google Shape;251;g3f59d3e3f11_0_40"/>
          <p:cNvSpPr/>
          <p:nvPr/>
        </p:nvSpPr>
        <p:spPr>
          <a:xfrm>
            <a:off x="8342925" y="2315340"/>
            <a:ext cx="744600" cy="858900"/>
          </a:xfrm>
          <a:prstGeom prst="roundRect">
            <a:avLst>
              <a:gd name="adj" fmla="val 16667"/>
            </a:avLst>
          </a:prstGeom>
          <a:solidFill>
            <a:srgbClr val="99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i = 0</a:t>
            </a:r>
            <a:endParaRPr sz="12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i = 1</a:t>
            </a:r>
            <a:endParaRPr sz="12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i = 2</a:t>
            </a:r>
            <a:endParaRPr sz="12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i = 3</a:t>
            </a:r>
            <a:endParaRPr sz="1200" b="1">
              <a:solidFill>
                <a:schemeClr val="lt1"/>
              </a:solidFill>
            </a:endParaRPr>
          </a:p>
        </p:txBody>
      </p:sp>
      <p:cxnSp>
        <p:nvCxnSpPr>
          <p:cNvPr id="252" name="Google Shape;252;g3f59d3e3f11_0_40"/>
          <p:cNvCxnSpPr>
            <a:stCxn id="248" idx="4"/>
            <a:endCxn id="249" idx="0"/>
          </p:cNvCxnSpPr>
          <p:nvPr/>
        </p:nvCxnSpPr>
        <p:spPr>
          <a:xfrm flipH="1">
            <a:off x="6731825" y="1593484"/>
            <a:ext cx="1009800" cy="721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3" name="Google Shape;253;g3f59d3e3f11_0_40"/>
          <p:cNvCxnSpPr>
            <a:stCxn id="248" idx="4"/>
            <a:endCxn id="250" idx="0"/>
          </p:cNvCxnSpPr>
          <p:nvPr/>
        </p:nvCxnSpPr>
        <p:spPr>
          <a:xfrm flipH="1">
            <a:off x="7723625" y="1593484"/>
            <a:ext cx="18000" cy="721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4" name="Google Shape;254;g3f59d3e3f11_0_40"/>
          <p:cNvCxnSpPr>
            <a:stCxn id="248" idx="4"/>
            <a:endCxn id="251" idx="0"/>
          </p:cNvCxnSpPr>
          <p:nvPr/>
        </p:nvCxnSpPr>
        <p:spPr>
          <a:xfrm>
            <a:off x="7741625" y="1593484"/>
            <a:ext cx="973500" cy="721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5" name="Google Shape;255;g3f59d3e3f11_0_40"/>
          <p:cNvSpPr/>
          <p:nvPr/>
        </p:nvSpPr>
        <p:spPr>
          <a:xfrm>
            <a:off x="7602731" y="3914390"/>
            <a:ext cx="274500" cy="2829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56" name="Google Shape;256;g3f59d3e3f11_0_40"/>
          <p:cNvCxnSpPr>
            <a:stCxn id="249" idx="2"/>
            <a:endCxn id="255" idx="1"/>
          </p:cNvCxnSpPr>
          <p:nvPr/>
        </p:nvCxnSpPr>
        <p:spPr>
          <a:xfrm>
            <a:off x="6731775" y="3174240"/>
            <a:ext cx="911100" cy="781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7" name="Google Shape;257;g3f59d3e3f11_0_40"/>
          <p:cNvCxnSpPr>
            <a:stCxn id="250" idx="2"/>
            <a:endCxn id="255" idx="0"/>
          </p:cNvCxnSpPr>
          <p:nvPr/>
        </p:nvCxnSpPr>
        <p:spPr>
          <a:xfrm>
            <a:off x="7723500" y="3174240"/>
            <a:ext cx="16500" cy="740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8" name="Google Shape;258;g3f59d3e3f11_0_40"/>
          <p:cNvCxnSpPr>
            <a:stCxn id="251" idx="2"/>
            <a:endCxn id="255" idx="7"/>
          </p:cNvCxnSpPr>
          <p:nvPr/>
        </p:nvCxnSpPr>
        <p:spPr>
          <a:xfrm flipH="1">
            <a:off x="7837125" y="3174240"/>
            <a:ext cx="878100" cy="781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9" name="Google Shape;259;g3f59d3e3f11_0_40"/>
          <p:cNvCxnSpPr>
            <a:stCxn id="255" idx="4"/>
          </p:cNvCxnSpPr>
          <p:nvPr/>
        </p:nvCxnSpPr>
        <p:spPr>
          <a:xfrm>
            <a:off x="7739981" y="4197290"/>
            <a:ext cx="3300" cy="330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0" name="Google Shape;260;g3f59d3e3f11_0_40"/>
          <p:cNvSpPr/>
          <p:nvPr/>
        </p:nvSpPr>
        <p:spPr>
          <a:xfrm>
            <a:off x="6357575" y="1779073"/>
            <a:ext cx="2764800" cy="3903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latin typeface="Arial Narrow"/>
                <a:ea typeface="Arial Narrow"/>
                <a:cs typeface="Arial Narrow"/>
                <a:sym typeface="Arial Narrow"/>
              </a:rPr>
              <a:t>#pragma omp for</a:t>
            </a:r>
            <a:endParaRPr sz="1300"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61" name="Google Shape;261;g3f59d3e3f11_0_40"/>
          <p:cNvSpPr/>
          <p:nvPr/>
        </p:nvSpPr>
        <p:spPr>
          <a:xfrm>
            <a:off x="6341100" y="3260073"/>
            <a:ext cx="2764800" cy="3903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latin typeface="Arial Narrow"/>
                <a:ea typeface="Arial Narrow"/>
                <a:cs typeface="Arial Narrow"/>
                <a:sym typeface="Arial Narrow"/>
              </a:rPr>
              <a:t>Implicit barrier</a:t>
            </a:r>
            <a:endParaRPr sz="1300"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62" name="Google Shape;262;g3f59d3e3f11_0_40"/>
          <p:cNvSpPr/>
          <p:nvPr/>
        </p:nvSpPr>
        <p:spPr>
          <a:xfrm>
            <a:off x="256350" y="2500325"/>
            <a:ext cx="5483700" cy="17241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Diagram shows a static division of iterations based on the number of threads. Note the implicit barrier at end of construct. </a:t>
            </a:r>
            <a:endParaRPr sz="1500"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Why is there a barrier at the end of the work-sharing construct?</a:t>
            </a:r>
            <a:endParaRPr sz="1500" b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59d3e3f11_0_65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Combining pragmas </a:t>
            </a:r>
            <a:endParaRPr/>
          </a:p>
        </p:txBody>
      </p:sp>
      <p:pic>
        <p:nvPicPr>
          <p:cNvPr id="269" name="Google Shape;269;g3f59d3e3f11_0_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7450" y="732938"/>
            <a:ext cx="6204751" cy="3677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59d3e3f11_0_73"/>
          <p:cNvSpPr txBox="1">
            <a:spLocks noGrp="1"/>
          </p:cNvSpPr>
          <p:nvPr>
            <p:ph type="body" idx="1"/>
          </p:nvPr>
        </p:nvSpPr>
        <p:spPr>
          <a:xfrm>
            <a:off x="256066" y="1005931"/>
            <a:ext cx="4038600" cy="3089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OpenMP uses a shared-memory programming model </a:t>
            </a:r>
            <a:endParaRPr sz="1800"/>
          </a:p>
          <a:p>
            <a:pPr marL="4572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Most variables are shared by default. 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Global variables are shared among threads 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C/C++: File scope variables, static </a:t>
            </a:r>
            <a:endParaRPr sz="1800"/>
          </a:p>
        </p:txBody>
      </p:sp>
      <p:sp>
        <p:nvSpPr>
          <p:cNvPr id="276" name="Google Shape;276;g3f59d3e3f11_0_73"/>
          <p:cNvSpPr txBox="1">
            <a:spLocks noGrp="1"/>
          </p:cNvSpPr>
          <p:nvPr>
            <p:ph type="body" idx="2"/>
          </p:nvPr>
        </p:nvSpPr>
        <p:spPr>
          <a:xfrm>
            <a:off x="4553750" y="1005925"/>
            <a:ext cx="4038600" cy="3278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But not everything is shared, </a:t>
            </a:r>
            <a:endParaRPr sz="1800"/>
          </a:p>
          <a:p>
            <a:pPr marL="4572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Stack variables in functions called from parallel regions are PRIVATE 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Automatic variables within a statement block are PRIVATE 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Loop index variables are private (with exceptions)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C/C+: The first loop index variable in nested loops following a </a:t>
            </a:r>
            <a:r>
              <a:rPr lang="en-US" sz="1800" b="1"/>
              <a:t>#pragma omp for </a:t>
            </a:r>
            <a:endParaRPr sz="1800" b="1"/>
          </a:p>
        </p:txBody>
      </p:sp>
      <p:sp>
        <p:nvSpPr>
          <p:cNvPr id="277" name="Google Shape;277;g3f59d3e3f11_0_73"/>
          <p:cNvSpPr txBox="1">
            <a:spLocks noGrp="1"/>
          </p:cNvSpPr>
          <p:nvPr>
            <p:ph type="body" idx="3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800"/>
              <a:t>Data Environment</a:t>
            </a:r>
            <a:endParaRPr sz="2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59d3e3f11_0_83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The default status can be modified with</a:t>
            </a:r>
            <a:endParaRPr sz="18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Scoping attribute clauses</a:t>
            </a:r>
            <a:endParaRPr sz="1800"/>
          </a:p>
        </p:txBody>
      </p:sp>
      <p:sp>
        <p:nvSpPr>
          <p:cNvPr id="284" name="Google Shape;284;g3f59d3e3f11_0_83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Data Scope Attributes</a:t>
            </a:r>
            <a:endParaRPr/>
          </a:p>
        </p:txBody>
      </p:sp>
      <p:sp>
        <p:nvSpPr>
          <p:cNvPr id="285" name="Google Shape;285;g3f59d3e3f11_0_83"/>
          <p:cNvSpPr/>
          <p:nvPr/>
        </p:nvSpPr>
        <p:spPr>
          <a:xfrm>
            <a:off x="756925" y="1679400"/>
            <a:ext cx="2118300" cy="63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Arial Narrow"/>
                <a:ea typeface="Arial Narrow"/>
                <a:cs typeface="Arial Narrow"/>
                <a:sym typeface="Arial Narrow"/>
              </a:rPr>
              <a:t>shared(varname, …)</a:t>
            </a:r>
            <a:endParaRPr sz="1800"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86" name="Google Shape;286;g3f59d3e3f11_0_83"/>
          <p:cNvSpPr/>
          <p:nvPr/>
        </p:nvSpPr>
        <p:spPr>
          <a:xfrm>
            <a:off x="756925" y="2459750"/>
            <a:ext cx="2118300" cy="63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Arial Narrow"/>
                <a:ea typeface="Arial Narrow"/>
                <a:cs typeface="Arial Narrow"/>
                <a:sym typeface="Arial Narrow"/>
              </a:rPr>
              <a:t>private(varname, …)</a:t>
            </a:r>
            <a:endParaRPr sz="1800"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87" name="Google Shape;287;g3f59d3e3f11_0_83"/>
          <p:cNvSpPr/>
          <p:nvPr/>
        </p:nvSpPr>
        <p:spPr>
          <a:xfrm>
            <a:off x="5533700" y="1710450"/>
            <a:ext cx="2680200" cy="63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Arial Narrow"/>
                <a:ea typeface="Arial Narrow"/>
                <a:cs typeface="Arial Narrow"/>
                <a:sym typeface="Arial Narrow"/>
              </a:rPr>
              <a:t>default(shared | none)</a:t>
            </a:r>
            <a:endParaRPr sz="1800"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88" name="Google Shape;288;g3f59d3e3f11_0_83"/>
          <p:cNvSpPr/>
          <p:nvPr/>
        </p:nvSpPr>
        <p:spPr>
          <a:xfrm>
            <a:off x="5317375" y="2459750"/>
            <a:ext cx="3499200" cy="17241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All data clauses apply to parallel regions and work-sharing constructs except “shared”, which only applies to parallel regions.</a:t>
            </a:r>
            <a:endParaRPr sz="1500" b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59d3e3f11_0_95"/>
          <p:cNvSpPr txBox="1">
            <a:spLocks noGrp="1"/>
          </p:cNvSpPr>
          <p:nvPr>
            <p:ph type="body" idx="1"/>
          </p:nvPr>
        </p:nvSpPr>
        <p:spPr>
          <a:xfrm>
            <a:off x="262100" y="784550"/>
            <a:ext cx="88818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700"/>
              <a:t>Reproduces the variable for each thread </a:t>
            </a:r>
            <a:endParaRPr sz="1700"/>
          </a:p>
          <a:p>
            <a:pPr marL="457200" lvl="0" indent="-336550" algn="l" rtl="0">
              <a:spcBef>
                <a:spcPts val="480"/>
              </a:spcBef>
              <a:spcAft>
                <a:spcPts val="0"/>
              </a:spcAft>
              <a:buSzPts val="1700"/>
              <a:buChar char="▪"/>
            </a:pPr>
            <a:r>
              <a:rPr lang="en-US" sz="1700"/>
              <a:t>Variables are un-initialized; C++ object is default constructed 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sz="1700"/>
              <a:t>Any value external to the parallel region is undefined </a:t>
            </a:r>
            <a:endParaRPr sz="1700"/>
          </a:p>
        </p:txBody>
      </p:sp>
      <p:sp>
        <p:nvSpPr>
          <p:cNvPr id="295" name="Google Shape;295;g3f59d3e3f11_0_95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The Private Clause </a:t>
            </a:r>
            <a:endParaRPr/>
          </a:p>
        </p:txBody>
      </p:sp>
      <p:sp>
        <p:nvSpPr>
          <p:cNvPr id="296" name="Google Shape;296;g3f59d3e3f11_0_95"/>
          <p:cNvSpPr/>
          <p:nvPr/>
        </p:nvSpPr>
        <p:spPr>
          <a:xfrm>
            <a:off x="373075" y="1830400"/>
            <a:ext cx="5173800" cy="2552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void* work(float* c, int N) { </a:t>
            </a:r>
            <a:endParaRPr sz="1600" b="1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float x, y; </a:t>
            </a:r>
            <a:endParaRPr sz="1600" b="1">
              <a:solidFill>
                <a:srgbClr val="CC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int i; </a:t>
            </a:r>
            <a:endParaRPr sz="1600" b="1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#pragma omp parallel for </a:t>
            </a:r>
            <a:r>
              <a:rPr lang="en-US" sz="16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private(x,y)</a:t>
            </a:r>
            <a:r>
              <a:rPr lang="en-US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600" b="1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for(i=0; i&lt;N; i++){</a:t>
            </a:r>
            <a:endParaRPr sz="1600" b="1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= a[i];</a:t>
            </a:r>
            <a:endParaRPr sz="1600" b="1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-US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= b[i];</a:t>
            </a:r>
            <a:endParaRPr sz="1600" b="1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c[i] = </a:t>
            </a:r>
            <a:r>
              <a:rPr lang="en-US" sz="1600" b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lang="en-US" sz="1600" b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-US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600" b="1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0" b="1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 sz="1600" b="1">
              <a:solidFill>
                <a:srgbClr val="B45F0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7" name="Google Shape;297;g3f59d3e3f11_0_95"/>
          <p:cNvSpPr/>
          <p:nvPr/>
        </p:nvSpPr>
        <p:spPr>
          <a:xfrm>
            <a:off x="5674750" y="1830675"/>
            <a:ext cx="3383400" cy="25524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For-loop iteration variable is </a:t>
            </a:r>
            <a:r>
              <a:rPr lang="en-US" b="1"/>
              <a:t>SHARED </a:t>
            </a:r>
            <a:r>
              <a:rPr lang="en-US"/>
              <a:t>by default. 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The private variables are </a:t>
            </a:r>
            <a:r>
              <a:rPr lang="en-US" b="1"/>
              <a:t>uninitialized </a:t>
            </a:r>
            <a:r>
              <a:rPr lang="en-US"/>
              <a:t>upon entering the parallel block, you must </a:t>
            </a:r>
            <a:r>
              <a:rPr lang="en-US" b="1"/>
              <a:t>assign </a:t>
            </a:r>
            <a:r>
              <a:rPr lang="en-US"/>
              <a:t>a value before reading them.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The private variables exist only </a:t>
            </a:r>
            <a:r>
              <a:rPr lang="en-US" b="1"/>
              <a:t>within their scope </a:t>
            </a:r>
            <a:r>
              <a:rPr lang="en-US"/>
              <a:t>and are </a:t>
            </a:r>
            <a:r>
              <a:rPr lang="en-US" b="1"/>
              <a:t>destroyed </a:t>
            </a:r>
            <a:r>
              <a:rPr lang="en-US"/>
              <a:t>at the end of the region.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f59d3e3f11_0_108"/>
          <p:cNvSpPr txBox="1">
            <a:spLocks noGrp="1"/>
          </p:cNvSpPr>
          <p:nvPr>
            <p:ph type="body" idx="1"/>
          </p:nvPr>
        </p:nvSpPr>
        <p:spPr>
          <a:xfrm>
            <a:off x="256079" y="1005925"/>
            <a:ext cx="6030000" cy="3089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float dot_prod(float* a, float* b, int N) 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float </a:t>
            </a:r>
            <a:r>
              <a:rPr lang="en-US" sz="1800" b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sum = 0.0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; 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#pragma omp parallel for </a:t>
            </a:r>
            <a:r>
              <a:rPr lang="en-US" sz="1800" b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shared(sum)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for(int i=0; i&lt;N; i++){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sum 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+= a[i]*b[i];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-US" sz="1800" b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4" name="Google Shape;304;g3f59d3e3f11_0_108"/>
          <p:cNvSpPr txBox="1">
            <a:spLocks noGrp="1"/>
          </p:cNvSpPr>
          <p:nvPr>
            <p:ph type="body" idx="3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800"/>
              <a:t>Dot Product</a:t>
            </a:r>
            <a:endParaRPr/>
          </a:p>
        </p:txBody>
      </p:sp>
      <p:sp>
        <p:nvSpPr>
          <p:cNvPr id="305" name="Google Shape;305;g3f59d3e3f11_0_108"/>
          <p:cNvSpPr/>
          <p:nvPr/>
        </p:nvSpPr>
        <p:spPr>
          <a:xfrm>
            <a:off x="6325850" y="1963650"/>
            <a:ext cx="2301600" cy="9699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What’s wrong with the code?</a:t>
            </a:r>
            <a:endParaRPr sz="1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f59d3e3f11_0_117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Must protect access to shared, modifiable data</a:t>
            </a:r>
            <a:endParaRPr sz="18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Courier"/>
                <a:ea typeface="Courier"/>
                <a:cs typeface="Courier"/>
                <a:sym typeface="Courier"/>
              </a:rPr>
              <a:t>float dot_prod(float* a, float* b, int N) </a:t>
            </a:r>
            <a:endParaRPr sz="1800">
              <a:latin typeface="Courier"/>
              <a:ea typeface="Courier"/>
              <a:cs typeface="Courier"/>
              <a:sym typeface="Courier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float </a:t>
            </a:r>
            <a:r>
              <a:rPr lang="en-US" sz="1800" b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sum = 0.0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; 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#pragma omp parallel for </a:t>
            </a:r>
            <a:r>
              <a:rPr lang="en-US" sz="1800" b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shared(sum)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for(int i=0; i&lt;N; i++){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#pragma omp critical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sum 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+= a[i]*b[i];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-US" sz="1800" b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 </a:t>
            </a:r>
            <a:endParaRPr sz="1800"/>
          </a:p>
        </p:txBody>
      </p:sp>
      <p:sp>
        <p:nvSpPr>
          <p:cNvPr id="312" name="Google Shape;312;g3f59d3e3f11_0_117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Dot Product </a:t>
            </a:r>
            <a:endParaRPr/>
          </a:p>
        </p:txBody>
      </p:sp>
      <p:sp>
        <p:nvSpPr>
          <p:cNvPr id="313" name="Google Shape;313;g3f59d3e3f11_0_117"/>
          <p:cNvSpPr/>
          <p:nvPr/>
        </p:nvSpPr>
        <p:spPr>
          <a:xfrm>
            <a:off x="6325700" y="2313000"/>
            <a:ext cx="2594700" cy="15813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The “critical” pragma allows only one thread at a time to execute the update of sum. </a:t>
            </a:r>
            <a:endParaRPr sz="16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f59d3e3f11_0_407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Defines a critical region on a structured block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20" name="Google Shape;320;g3f59d3e3f11_0_407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OpenMP* Critical Construct</a:t>
            </a:r>
            <a:endParaRPr/>
          </a:p>
        </p:txBody>
      </p:sp>
      <p:sp>
        <p:nvSpPr>
          <p:cNvPr id="321" name="Google Shape;321;g3f59d3e3f11_0_407"/>
          <p:cNvSpPr/>
          <p:nvPr/>
        </p:nvSpPr>
        <p:spPr>
          <a:xfrm>
            <a:off x="373075" y="1109533"/>
            <a:ext cx="3851700" cy="3231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float R1, R2;</a:t>
            </a:r>
            <a:endParaRPr b="1">
              <a:solidFill>
                <a:srgbClr val="CC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#pragma omp parallel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float A, B;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#pragma omp for</a:t>
            </a:r>
            <a:b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for(int i=0; i&lt;niters; i++){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 = big_job(i);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#pragma omp critical</a:t>
            </a:r>
            <a:b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consum (B, </a:t>
            </a:r>
            <a:r>
              <a:rPr lang="en-US" b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&amp;R1</a:t>
            </a: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  </a:t>
            </a:r>
            <a:r>
              <a:rPr lang="en-US" b="1">
                <a:solidFill>
                  <a:srgbClr val="CC0000"/>
                </a:solidFill>
              </a:rPr>
              <a:t>//R1_lock</a:t>
            </a:r>
            <a:endParaRPr b="1">
              <a:solidFill>
                <a:srgbClr val="CC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A = bigger_job(i);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#pragma omp critical</a:t>
            </a:r>
            <a:b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	consum (A, </a:t>
            </a:r>
            <a:r>
              <a:rPr lang="en-US" b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&amp;R2</a:t>
            </a: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  </a:t>
            </a:r>
            <a:r>
              <a:rPr lang="en-US" b="1">
                <a:solidFill>
                  <a:srgbClr val="CC0000"/>
                </a:solidFill>
              </a:rPr>
              <a:t>//R2_lock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b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2" name="Google Shape;322;g3f59d3e3f11_0_407"/>
          <p:cNvSpPr/>
          <p:nvPr/>
        </p:nvSpPr>
        <p:spPr>
          <a:xfrm>
            <a:off x="4741000" y="1538525"/>
            <a:ext cx="4293300" cy="23733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b="1">
                <a:solidFill>
                  <a:schemeClr val="dk1"/>
                </a:solidFill>
              </a:rPr>
              <a:t>Threads wait their turn –at a time, only one calls consum() thereby protecting R1 and R2 from race conditions.</a:t>
            </a:r>
            <a:endParaRPr sz="17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Naming the critical constructs  is optional but may increase performance.</a:t>
            </a:r>
            <a:endParaRPr sz="1700" b="1">
              <a:solidFill>
                <a:schemeClr val="dk1"/>
              </a:solidFill>
            </a:endParaRPr>
          </a:p>
        </p:txBody>
      </p:sp>
      <p:sp>
        <p:nvSpPr>
          <p:cNvPr id="323" name="Google Shape;323;g3f59d3e3f11_0_407"/>
          <p:cNvSpPr/>
          <p:nvPr/>
        </p:nvSpPr>
        <p:spPr>
          <a:xfrm>
            <a:off x="5186350" y="962425"/>
            <a:ext cx="3402600" cy="469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Arial Narrow"/>
                <a:ea typeface="Arial Narrow"/>
                <a:cs typeface="Arial Narrow"/>
                <a:sym typeface="Arial Narrow"/>
              </a:rPr>
              <a:t>#pragma omp critical [(</a:t>
            </a:r>
            <a:r>
              <a:rPr lang="en-US" sz="1800" b="1" i="1">
                <a:latin typeface="Arial Narrow"/>
                <a:ea typeface="Arial Narrow"/>
                <a:cs typeface="Arial Narrow"/>
                <a:sym typeface="Arial Narrow"/>
              </a:rPr>
              <a:t>lock_name</a:t>
            </a:r>
            <a:r>
              <a:rPr lang="en-US" sz="1800" b="1">
                <a:latin typeface="Arial Narrow"/>
                <a:ea typeface="Arial Narrow"/>
                <a:cs typeface="Arial Narrow"/>
                <a:sym typeface="Arial Narrow"/>
              </a:rPr>
              <a:t>)]</a:t>
            </a:r>
            <a:endParaRPr sz="1800" b="1"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f59d3e3f11_0_128"/>
          <p:cNvSpPr txBox="1">
            <a:spLocks noGrp="1"/>
          </p:cNvSpPr>
          <p:nvPr>
            <p:ph type="body" idx="1"/>
          </p:nvPr>
        </p:nvSpPr>
        <p:spPr>
          <a:xfrm>
            <a:off x="262100" y="1431924"/>
            <a:ext cx="8658300" cy="295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600"/>
              <a:t>The variables in “</a:t>
            </a:r>
            <a:r>
              <a:rPr lang="en-US" sz="1600" i="1"/>
              <a:t>list</a:t>
            </a:r>
            <a:r>
              <a:rPr lang="en-US" sz="1600"/>
              <a:t>” must be shared in the enclosing parallel region </a:t>
            </a:r>
            <a:endParaRPr sz="16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600"/>
              <a:t>Inside parallel or work-sharing construct: </a:t>
            </a:r>
            <a:endParaRPr sz="1600"/>
          </a:p>
          <a:p>
            <a:pPr marL="457200" lvl="0" indent="-330200" algn="l" rtl="0">
              <a:spcBef>
                <a:spcPts val="48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A PRIVATE copy of each list variable is created and initialized depending on the “op” 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These copies are updated locally by threads 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At end of construct, local copies are combined through “op” into a single value and combined with the value in the original SHARED variable </a:t>
            </a:r>
            <a:endParaRPr sz="1600"/>
          </a:p>
        </p:txBody>
      </p:sp>
      <p:sp>
        <p:nvSpPr>
          <p:cNvPr id="330" name="Google Shape;330;g3f59d3e3f11_0_128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OpenMP* Reduction Clause</a:t>
            </a:r>
            <a:endParaRPr/>
          </a:p>
        </p:txBody>
      </p:sp>
      <p:sp>
        <p:nvSpPr>
          <p:cNvPr id="331" name="Google Shape;331;g3f59d3e3f11_0_128"/>
          <p:cNvSpPr/>
          <p:nvPr/>
        </p:nvSpPr>
        <p:spPr>
          <a:xfrm>
            <a:off x="262100" y="846350"/>
            <a:ext cx="2715300" cy="469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Arial Narrow"/>
                <a:ea typeface="Arial Narrow"/>
                <a:cs typeface="Arial Narrow"/>
                <a:sym typeface="Arial Narrow"/>
              </a:rPr>
              <a:t>reduction(</a:t>
            </a:r>
            <a:r>
              <a:rPr lang="en-US" sz="2000" b="1" i="1">
                <a:latin typeface="Arial Narrow"/>
                <a:ea typeface="Arial Narrow"/>
                <a:cs typeface="Arial Narrow"/>
                <a:sym typeface="Arial Narrow"/>
              </a:rPr>
              <a:t>op </a:t>
            </a:r>
            <a:r>
              <a:rPr lang="en-US" sz="2000" b="1">
                <a:latin typeface="Arial Narrow"/>
                <a:ea typeface="Arial Narrow"/>
                <a:cs typeface="Arial Narrow"/>
                <a:sym typeface="Arial Narrow"/>
              </a:rPr>
              <a:t>: </a:t>
            </a:r>
            <a:r>
              <a:rPr lang="en-US" sz="2000" b="1" i="1">
                <a:latin typeface="Arial Narrow"/>
                <a:ea typeface="Arial Narrow"/>
                <a:cs typeface="Arial Narrow"/>
                <a:sym typeface="Arial Narrow"/>
              </a:rPr>
              <a:t>list</a:t>
            </a:r>
            <a:r>
              <a:rPr lang="en-US" sz="2000" b="1">
                <a:latin typeface="Arial Narrow"/>
                <a:ea typeface="Arial Narrow"/>
                <a:cs typeface="Arial Narrow"/>
                <a:sym typeface="Arial Narrow"/>
              </a:rPr>
              <a:t>)</a:t>
            </a:r>
            <a:endParaRPr sz="2000"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32" name="Google Shape;332;g3f59d3e3f11_0_128"/>
          <p:cNvSpPr/>
          <p:nvPr/>
        </p:nvSpPr>
        <p:spPr>
          <a:xfrm>
            <a:off x="417525" y="3195650"/>
            <a:ext cx="5871600" cy="1187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#pragma omp parallel for reduction(+:sum)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for(i = 0; i &lt; N; i++) {</a:t>
            </a:r>
            <a:endParaRPr sz="1600" b="1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sum += a[i] * b[i]; </a:t>
            </a:r>
            <a:endParaRPr sz="1600" b="1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0" b="1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f59d3e3f11_0_137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600"/>
              <a:t>The schedule clause affects how loop iterations are mapped onto threads</a:t>
            </a:r>
            <a:endParaRPr sz="1600"/>
          </a:p>
          <a:p>
            <a:pPr marL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600"/>
          </a:p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Blocks of iterations of size “chunk” to threads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Round robin distribution</a:t>
            </a:r>
            <a:endParaRPr sz="1600"/>
          </a:p>
          <a:p>
            <a:pPr marL="0" lvl="0" indent="0" algn="l" rtl="0">
              <a:lnSpc>
                <a:spcPct val="2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600"/>
          </a:p>
          <a:p>
            <a:pPr marL="457200" lvl="0" indent="-330200" algn="l" rtl="0">
              <a:spcBef>
                <a:spcPts val="48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Threads grab “chunk” iterations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When done with iterations, thread request next set</a:t>
            </a:r>
            <a:endParaRPr sz="16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600"/>
          </a:p>
          <a:p>
            <a:pPr marL="457200" lvl="0" indent="-330200" algn="l" rtl="0">
              <a:spcBef>
                <a:spcPts val="48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Dynamic schedule starting with large block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Size of the blocks shrink; no smaller than “chunk”</a:t>
            </a:r>
            <a:endParaRPr sz="16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39" name="Google Shape;339;g3f59d3e3f11_0_137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Schedule Clause </a:t>
            </a:r>
            <a:endParaRPr/>
          </a:p>
        </p:txBody>
      </p:sp>
      <p:sp>
        <p:nvSpPr>
          <p:cNvPr id="340" name="Google Shape;340;g3f59d3e3f11_0_137"/>
          <p:cNvSpPr/>
          <p:nvPr/>
        </p:nvSpPr>
        <p:spPr>
          <a:xfrm>
            <a:off x="373075" y="1187625"/>
            <a:ext cx="3183600" cy="394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Arial Narrow"/>
                <a:ea typeface="Arial Narrow"/>
                <a:cs typeface="Arial Narrow"/>
                <a:sym typeface="Arial Narrow"/>
              </a:rPr>
              <a:t>schedule(static [,chunk])</a:t>
            </a:r>
            <a:endParaRPr sz="2000"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41" name="Google Shape;341;g3f59d3e3f11_0_137"/>
          <p:cNvSpPr/>
          <p:nvPr/>
        </p:nvSpPr>
        <p:spPr>
          <a:xfrm>
            <a:off x="373075" y="2303213"/>
            <a:ext cx="3183600" cy="394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Arial Narrow"/>
                <a:ea typeface="Arial Narrow"/>
                <a:cs typeface="Arial Narrow"/>
                <a:sym typeface="Arial Narrow"/>
              </a:rPr>
              <a:t>schedule(dynamic [,chunk])</a:t>
            </a:r>
            <a:endParaRPr sz="2000"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42" name="Google Shape;342;g3f59d3e3f11_0_137"/>
          <p:cNvSpPr/>
          <p:nvPr/>
        </p:nvSpPr>
        <p:spPr>
          <a:xfrm>
            <a:off x="373075" y="3418825"/>
            <a:ext cx="3183600" cy="394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Arial Narrow"/>
                <a:ea typeface="Arial Narrow"/>
                <a:cs typeface="Arial Narrow"/>
                <a:sym typeface="Arial Narrow"/>
              </a:rPr>
              <a:t>schedule(guided [,chunk])</a:t>
            </a:r>
            <a:endParaRPr sz="2000"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43" name="Google Shape;343;g3f59d3e3f11_0_137"/>
          <p:cNvSpPr/>
          <p:nvPr/>
        </p:nvSpPr>
        <p:spPr>
          <a:xfrm>
            <a:off x="5788475" y="2427200"/>
            <a:ext cx="2767800" cy="6987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Default chunk size is 1</a:t>
            </a:r>
            <a:endParaRPr sz="1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f59d3e3f11_0_421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Schedule Clause Example</a:t>
            </a:r>
            <a:endParaRPr/>
          </a:p>
        </p:txBody>
      </p:sp>
      <p:sp>
        <p:nvSpPr>
          <p:cNvPr id="350" name="Google Shape;350;g3f59d3e3f11_0_421"/>
          <p:cNvSpPr/>
          <p:nvPr/>
        </p:nvSpPr>
        <p:spPr>
          <a:xfrm>
            <a:off x="279075" y="934350"/>
            <a:ext cx="5509500" cy="1942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</a:rPr>
              <a:t>#pragma omp parallel for schedule (static, 8)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</a:rPr>
              <a:t>	for( int i = start; i &lt;= end; i += 2 )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</a:rPr>
              <a:t>	{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</a:rPr>
              <a:t>   		if ( TestForPrime(i) )  gPrimesFound++;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	}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351" name="Google Shape;351;g3f59d3e3f11_0_421"/>
          <p:cNvSpPr txBox="1">
            <a:spLocks noGrp="1"/>
          </p:cNvSpPr>
          <p:nvPr>
            <p:ph type="body" idx="1"/>
          </p:nvPr>
        </p:nvSpPr>
        <p:spPr>
          <a:xfrm>
            <a:off x="262100" y="2876850"/>
            <a:ext cx="7374600" cy="150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Iterations are divided into chunks of 8</a:t>
            </a:r>
            <a:endParaRPr sz="1800"/>
          </a:p>
          <a:p>
            <a:pPr marL="457200" lvl="0" indent="-3429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If start = 3, then first chunk is </a:t>
            </a:r>
            <a:r>
              <a:rPr lang="en-US" sz="1800" b="1"/>
              <a:t>i</a:t>
            </a:r>
            <a:r>
              <a:rPr lang="en-US" sz="1800"/>
              <a:t>={3,5,7,9,11,13,15,17}</a:t>
            </a:r>
            <a:endParaRPr sz="1800"/>
          </a:p>
        </p:txBody>
      </p:sp>
      <p:sp>
        <p:nvSpPr>
          <p:cNvPr id="352" name="Google Shape;352;g3f59d3e3f11_0_421"/>
          <p:cNvSpPr/>
          <p:nvPr/>
        </p:nvSpPr>
        <p:spPr>
          <a:xfrm>
            <a:off x="6152775" y="1073100"/>
            <a:ext cx="2767800" cy="16650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93938"/>
                </a:solidFill>
              </a:rPr>
              <a:t>Set of iterations is divided up into chunks of size 8 and distributed to threads in round robin fashion.</a:t>
            </a:r>
            <a:endParaRPr sz="1500" b="1">
              <a:solidFill>
                <a:schemeClr val="dk1"/>
              </a:solidFill>
            </a:endParaRPr>
          </a:p>
        </p:txBody>
      </p:sp>
      <p:sp>
        <p:nvSpPr>
          <p:cNvPr id="353" name="Google Shape;353;g3f59d3e3f11_0_421"/>
          <p:cNvSpPr txBox="1"/>
          <p:nvPr/>
        </p:nvSpPr>
        <p:spPr>
          <a:xfrm>
            <a:off x="373075" y="3937000"/>
            <a:ext cx="6424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Sample Code: </a:t>
            </a:r>
            <a:r>
              <a:rPr lang="en-US" sz="1800" b="1" u="sng">
                <a:solidFill>
                  <a:schemeClr val="hlink"/>
                </a:solidFill>
                <a:hlinkClick r:id="rId3"/>
              </a:rPr>
              <a:t>omp_0.c</a:t>
            </a:r>
            <a:endParaRPr sz="1800" b="1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f59d3e3f11_0_149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Independent sections of code can execute concurrently</a:t>
            </a:r>
            <a:endParaRPr sz="1800"/>
          </a:p>
        </p:txBody>
      </p:sp>
      <p:sp>
        <p:nvSpPr>
          <p:cNvPr id="360" name="Google Shape;360;g3f59d3e3f11_0_149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Parallel Sections</a:t>
            </a:r>
            <a:endParaRPr/>
          </a:p>
        </p:txBody>
      </p:sp>
      <p:sp>
        <p:nvSpPr>
          <p:cNvPr id="361" name="Google Shape;361;g3f59d3e3f11_0_149"/>
          <p:cNvSpPr/>
          <p:nvPr/>
        </p:nvSpPr>
        <p:spPr>
          <a:xfrm>
            <a:off x="373075" y="1307450"/>
            <a:ext cx="3388500" cy="2948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#pragma omp parallel sections </a:t>
            </a:r>
            <a:endParaRPr sz="17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{</a:t>
            </a:r>
            <a:endParaRPr sz="17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#pragma omp section </a:t>
            </a:r>
            <a:endParaRPr sz="17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phase1(); </a:t>
            </a:r>
            <a:endParaRPr sz="17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#pragma omp section </a:t>
            </a:r>
            <a:endParaRPr sz="17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phase2(); </a:t>
            </a:r>
            <a:endParaRPr sz="17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#pragma omp section </a:t>
            </a:r>
            <a:endParaRPr sz="17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phase3(); </a:t>
            </a:r>
            <a:endParaRPr sz="17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} </a:t>
            </a:r>
            <a:endParaRPr sz="1700" b="1">
              <a:solidFill>
                <a:schemeClr val="dk1"/>
              </a:solidFill>
            </a:endParaRPr>
          </a:p>
        </p:txBody>
      </p:sp>
      <p:sp>
        <p:nvSpPr>
          <p:cNvPr id="362" name="Google Shape;362;g3f59d3e3f11_0_149"/>
          <p:cNvSpPr/>
          <p:nvPr/>
        </p:nvSpPr>
        <p:spPr>
          <a:xfrm>
            <a:off x="3883500" y="1081100"/>
            <a:ext cx="5037300" cy="33015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OpenMP sections enable task parallelism by defining </a:t>
            </a:r>
            <a:r>
              <a:rPr lang="en-US" b="1">
                <a:solidFill>
                  <a:schemeClr val="dk1"/>
                </a:solidFill>
              </a:rPr>
              <a:t>independent blocks of code</a:t>
            </a:r>
            <a:r>
              <a:rPr lang="en-US">
                <a:solidFill>
                  <a:schemeClr val="dk1"/>
                </a:solidFill>
              </a:rPr>
              <a:t> to run concurrently.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The outer container is </a:t>
            </a:r>
            <a:r>
              <a:rPr lang="en-US" b="1">
                <a:solidFill>
                  <a:schemeClr val="dk1"/>
                </a:solidFill>
              </a:rPr>
              <a:t>plural (</a:t>
            </a:r>
            <a:r>
              <a:rPr lang="en-US" b="1" i="1">
                <a:solidFill>
                  <a:schemeClr val="dk1"/>
                </a:solidFill>
              </a:rPr>
              <a:t>sections</a:t>
            </a:r>
            <a:r>
              <a:rPr lang="en-US" b="1">
                <a:solidFill>
                  <a:schemeClr val="dk1"/>
                </a:solidFill>
              </a:rPr>
              <a:t>)</a:t>
            </a:r>
            <a:r>
              <a:rPr lang="en-US">
                <a:solidFill>
                  <a:schemeClr val="dk1"/>
                </a:solidFill>
              </a:rPr>
              <a:t>, while each task uses</a:t>
            </a:r>
            <a:r>
              <a:rPr lang="en-US" b="1">
                <a:solidFill>
                  <a:schemeClr val="dk1"/>
                </a:solidFill>
              </a:rPr>
              <a:t> singular (</a:t>
            </a:r>
            <a:r>
              <a:rPr lang="en-US" b="1" i="1">
                <a:solidFill>
                  <a:schemeClr val="dk1"/>
                </a:solidFill>
              </a:rPr>
              <a:t>section</a:t>
            </a:r>
            <a:r>
              <a:rPr lang="en-US" b="1">
                <a:solidFill>
                  <a:schemeClr val="dk1"/>
                </a:solidFill>
              </a:rPr>
              <a:t>)</a:t>
            </a:r>
            <a:r>
              <a:rPr lang="en-US">
                <a:solidFill>
                  <a:schemeClr val="dk1"/>
                </a:solidFill>
              </a:rPr>
              <a:t>. Code between </a:t>
            </a:r>
            <a:r>
              <a:rPr lang="en-US" i="1">
                <a:solidFill>
                  <a:schemeClr val="dk1"/>
                </a:solidFill>
              </a:rPr>
              <a:t>section</a:t>
            </a:r>
            <a:r>
              <a:rPr lang="en-US">
                <a:solidFill>
                  <a:schemeClr val="dk1"/>
                </a:solidFill>
              </a:rPr>
              <a:t> pragmas forms a task implicitly without needing extra curly braces.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Includes an</a:t>
            </a:r>
            <a:r>
              <a:rPr lang="en-US" b="1">
                <a:solidFill>
                  <a:schemeClr val="dk1"/>
                </a:solidFill>
              </a:rPr>
              <a:t> implicit barrier </a:t>
            </a:r>
            <a:r>
              <a:rPr lang="en-US">
                <a:solidFill>
                  <a:schemeClr val="dk1"/>
                </a:solidFill>
              </a:rPr>
              <a:t>at the end of the </a:t>
            </a:r>
            <a:r>
              <a:rPr lang="en-US" i="1">
                <a:solidFill>
                  <a:schemeClr val="dk1"/>
                </a:solidFill>
              </a:rPr>
              <a:t>sections </a:t>
            </a:r>
            <a:r>
              <a:rPr lang="en-US">
                <a:solidFill>
                  <a:schemeClr val="dk1"/>
                </a:solidFill>
              </a:rPr>
              <a:t>region.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Q: What if there are more/less threads than</a:t>
            </a:r>
            <a:endParaRPr b="1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tasks? How are tasks assigned to threads?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f59d3e3f11_0_165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Independent sections of code can execute concurrently</a:t>
            </a:r>
            <a:endParaRPr sz="1800"/>
          </a:p>
        </p:txBody>
      </p:sp>
      <p:sp>
        <p:nvSpPr>
          <p:cNvPr id="369" name="Google Shape;369;g3f59d3e3f11_0_165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Parallel Sections</a:t>
            </a:r>
            <a:endParaRPr/>
          </a:p>
        </p:txBody>
      </p:sp>
      <p:sp>
        <p:nvSpPr>
          <p:cNvPr id="370" name="Google Shape;370;g3f59d3e3f11_0_165"/>
          <p:cNvSpPr/>
          <p:nvPr/>
        </p:nvSpPr>
        <p:spPr>
          <a:xfrm>
            <a:off x="373075" y="1307450"/>
            <a:ext cx="3226200" cy="2948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#pragma omp parallel sections 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{</a:t>
            </a:r>
            <a:endParaRPr sz="16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#pragma omp section </a:t>
            </a:r>
            <a:endParaRPr sz="16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phase1(); </a:t>
            </a:r>
            <a:endParaRPr sz="16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#pragma omp section </a:t>
            </a:r>
            <a:endParaRPr sz="16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phase2(); </a:t>
            </a:r>
            <a:endParaRPr sz="16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#pragma omp section </a:t>
            </a:r>
            <a:endParaRPr sz="16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phase3(); 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} </a:t>
            </a:r>
            <a:endParaRPr sz="1600" b="1">
              <a:solidFill>
                <a:schemeClr val="dk1"/>
              </a:solidFill>
            </a:endParaRPr>
          </a:p>
        </p:txBody>
      </p:sp>
      <p:sp>
        <p:nvSpPr>
          <p:cNvPr id="371" name="Google Shape;371;g3f59d3e3f11_0_165"/>
          <p:cNvSpPr/>
          <p:nvPr/>
        </p:nvSpPr>
        <p:spPr>
          <a:xfrm>
            <a:off x="3940350" y="1320425"/>
            <a:ext cx="5037300" cy="23598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1">
                <a:solidFill>
                  <a:schemeClr val="dk1"/>
                </a:solidFill>
              </a:rPr>
              <a:t>If tasks outnumber threads, threads process remaining tasks as they finish prior ones.</a:t>
            </a:r>
            <a:endParaRPr b="1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1">
                <a:solidFill>
                  <a:schemeClr val="dk1"/>
                </a:solidFill>
              </a:rPr>
              <a:t>If threads outnumber tasks, extra threads wait at the implicit end barrier. 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Section execution sequence is unpredictable, tasks must remain completely independent of one another. 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372" name="Google Shape;372;g3f59d3e3f11_0_1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2822" y="3722874"/>
            <a:ext cx="1931177" cy="143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f59d3e3f11_0_159"/>
          <p:cNvSpPr txBox="1">
            <a:spLocks noGrp="1"/>
          </p:cNvSpPr>
          <p:nvPr>
            <p:ph type="body" idx="1"/>
          </p:nvPr>
        </p:nvSpPr>
        <p:spPr>
          <a:xfrm>
            <a:off x="262110" y="727679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Denotes block of code to be executed by only one thread</a:t>
            </a:r>
            <a:endParaRPr sz="1800"/>
          </a:p>
          <a:p>
            <a:pPr marL="4572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Thread chosen is implementation dependent</a:t>
            </a:r>
            <a:endParaRPr sz="18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Implicit barrier at end </a:t>
            </a:r>
            <a:endParaRPr sz="1800"/>
          </a:p>
        </p:txBody>
      </p:sp>
      <p:sp>
        <p:nvSpPr>
          <p:cNvPr id="379" name="Google Shape;379;g3f59d3e3f11_0_159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Single Construct</a:t>
            </a:r>
            <a:endParaRPr/>
          </a:p>
        </p:txBody>
      </p:sp>
      <p:sp>
        <p:nvSpPr>
          <p:cNvPr id="380" name="Google Shape;380;g3f59d3e3f11_0_159"/>
          <p:cNvSpPr/>
          <p:nvPr/>
        </p:nvSpPr>
        <p:spPr>
          <a:xfrm>
            <a:off x="529450" y="1759318"/>
            <a:ext cx="4335000" cy="2695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#pragma omp parallel </a:t>
            </a:r>
            <a:endParaRPr sz="17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{</a:t>
            </a:r>
            <a:endParaRPr sz="17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DoManyThings();</a:t>
            </a:r>
            <a:endParaRPr sz="17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#pragma omp single</a:t>
            </a:r>
            <a:endParaRPr sz="17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CC0000"/>
                </a:solidFill>
              </a:rPr>
              <a:t>{ </a:t>
            </a:r>
            <a:endParaRPr sz="1700" b="1">
              <a:solidFill>
                <a:srgbClr val="CC0000"/>
              </a:solidFill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ExchangeBoundaries(); </a:t>
            </a:r>
            <a:endParaRPr sz="1700" b="1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CC0000"/>
                </a:solidFill>
              </a:rPr>
              <a:t>} </a:t>
            </a:r>
            <a:r>
              <a:rPr lang="en-US" sz="1700" b="1">
                <a:solidFill>
                  <a:schemeClr val="dk1"/>
                </a:solidFill>
              </a:rPr>
              <a:t>	</a:t>
            </a:r>
            <a:r>
              <a:rPr lang="en-US" sz="1700" b="1">
                <a:solidFill>
                  <a:srgbClr val="674EA7"/>
                </a:solidFill>
              </a:rPr>
              <a:t>// threads wait here for single</a:t>
            </a:r>
            <a:endParaRPr sz="1700" b="1">
              <a:solidFill>
                <a:srgbClr val="674EA7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DoManyMoreThings();</a:t>
            </a:r>
            <a:endParaRPr sz="17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} </a:t>
            </a:r>
            <a:endParaRPr sz="1700" b="1">
              <a:solidFill>
                <a:schemeClr val="dk1"/>
              </a:solidFill>
            </a:endParaRPr>
          </a:p>
        </p:txBody>
      </p:sp>
      <p:sp>
        <p:nvSpPr>
          <p:cNvPr id="381" name="Google Shape;381;g3f59d3e3f11_0_159"/>
          <p:cNvSpPr/>
          <p:nvPr/>
        </p:nvSpPr>
        <p:spPr>
          <a:xfrm>
            <a:off x="5049225" y="1668325"/>
            <a:ext cx="3928500" cy="21183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Used when only one thread should execute a portion of code. This could be used when two parallel regions have very little serial code in between. Combine the two regions into a single region (less overhead for fork-join) and add the “single” construct for the serial portion. 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f59d3e3f11_0_434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Denotes block of code to be executed only by the master thread. No implicit barrier at end</a:t>
            </a:r>
            <a:endParaRPr sz="18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88" name="Google Shape;388;g3f59d3e3f11_0_434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Master Construct</a:t>
            </a:r>
            <a:endParaRPr/>
          </a:p>
        </p:txBody>
      </p:sp>
      <p:sp>
        <p:nvSpPr>
          <p:cNvPr id="389" name="Google Shape;389;g3f59d3e3f11_0_434"/>
          <p:cNvSpPr/>
          <p:nvPr/>
        </p:nvSpPr>
        <p:spPr>
          <a:xfrm>
            <a:off x="373075" y="1531875"/>
            <a:ext cx="6510000" cy="2695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#pragma omp parallel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{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   DoManyThings();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#pragma omp master 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   </a:t>
            </a:r>
            <a:r>
              <a:rPr lang="en-US" sz="1600" b="1">
                <a:solidFill>
                  <a:srgbClr val="CC0000"/>
                </a:solidFill>
              </a:rPr>
              <a:t>{   </a:t>
            </a:r>
            <a:r>
              <a:rPr lang="en-US" sz="1600" b="1">
                <a:solidFill>
                  <a:schemeClr val="dk1"/>
                </a:solidFill>
              </a:rPr>
              <a:t>           </a:t>
            </a:r>
            <a:r>
              <a:rPr lang="en-US" sz="1600" b="1">
                <a:solidFill>
                  <a:srgbClr val="674EA7"/>
                </a:solidFill>
              </a:rPr>
              <a:t> // if not master skip to next statement</a:t>
            </a:r>
            <a:endParaRPr sz="1600" b="1">
              <a:solidFill>
                <a:srgbClr val="674EA7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 	ExchangeBoundaries();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   </a:t>
            </a:r>
            <a:r>
              <a:rPr lang="en-US" sz="1600" b="1">
                <a:solidFill>
                  <a:srgbClr val="CC0000"/>
                </a:solidFill>
              </a:rPr>
              <a:t>}</a:t>
            </a:r>
            <a:endParaRPr sz="1600" b="1">
              <a:solidFill>
                <a:srgbClr val="CC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   DoManyMoreThings();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}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f59d3e3f11_0_183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Several OpenMP* constructs have implicit barriers</a:t>
            </a:r>
            <a:endParaRPr sz="1800"/>
          </a:p>
          <a:p>
            <a:pPr marL="4572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parallel 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for 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single </a:t>
            </a:r>
            <a:endParaRPr sz="1800"/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Unnecessary barriers hurt performance </a:t>
            </a:r>
            <a:endParaRPr sz="1800"/>
          </a:p>
          <a:p>
            <a:pPr marL="4572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Waiting threads accomplish no work! </a:t>
            </a:r>
            <a:endParaRPr sz="18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Suppress implicit barriers, when safe, with the </a:t>
            </a:r>
            <a:r>
              <a:rPr lang="en-US" sz="1800" b="1"/>
              <a:t>nowait </a:t>
            </a:r>
            <a:r>
              <a:rPr lang="en-US" sz="1800"/>
              <a:t>clause </a:t>
            </a:r>
            <a:endParaRPr sz="1800"/>
          </a:p>
        </p:txBody>
      </p:sp>
      <p:sp>
        <p:nvSpPr>
          <p:cNvPr id="396" name="Google Shape;396;g3f59d3e3f11_0_183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Implicit Barriers 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f59d3e3f11_0_191"/>
          <p:cNvSpPr txBox="1">
            <a:spLocks noGrp="1"/>
          </p:cNvSpPr>
          <p:nvPr>
            <p:ph type="body" idx="1"/>
          </p:nvPr>
        </p:nvSpPr>
        <p:spPr>
          <a:xfrm>
            <a:off x="262100" y="1899302"/>
            <a:ext cx="8658300" cy="2355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Use when threads would wait between independent computations</a:t>
            </a:r>
            <a:endParaRPr sz="1800"/>
          </a:p>
        </p:txBody>
      </p:sp>
      <p:sp>
        <p:nvSpPr>
          <p:cNvPr id="403" name="Google Shape;403;g3f59d3e3f11_0_191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Nowait Clause </a:t>
            </a:r>
            <a:endParaRPr/>
          </a:p>
        </p:txBody>
      </p:sp>
      <p:sp>
        <p:nvSpPr>
          <p:cNvPr id="404" name="Google Shape;404;g3f59d3e3f11_0_191"/>
          <p:cNvSpPr/>
          <p:nvPr/>
        </p:nvSpPr>
        <p:spPr>
          <a:xfrm>
            <a:off x="4024475" y="816476"/>
            <a:ext cx="2706900" cy="981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#pragma single nowait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{ [...] }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</a:endParaRPr>
          </a:p>
        </p:txBody>
      </p:sp>
      <p:sp>
        <p:nvSpPr>
          <p:cNvPr id="405" name="Google Shape;405;g3f59d3e3f11_0_191"/>
          <p:cNvSpPr/>
          <p:nvPr/>
        </p:nvSpPr>
        <p:spPr>
          <a:xfrm>
            <a:off x="1177200" y="816476"/>
            <a:ext cx="2706900" cy="981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#pragma omp for nowait</a:t>
            </a:r>
            <a:endParaRPr sz="16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for (...)</a:t>
            </a:r>
            <a:endParaRPr sz="1600" b="1">
              <a:solidFill>
                <a:schemeClr val="dk1"/>
              </a:solidFill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{...}; </a:t>
            </a:r>
            <a:endParaRPr sz="1600" b="1">
              <a:solidFill>
                <a:schemeClr val="dk1"/>
              </a:solidFill>
            </a:endParaRPr>
          </a:p>
        </p:txBody>
      </p:sp>
      <p:sp>
        <p:nvSpPr>
          <p:cNvPr id="406" name="Google Shape;406;g3f59d3e3f11_0_191"/>
          <p:cNvSpPr/>
          <p:nvPr/>
        </p:nvSpPr>
        <p:spPr>
          <a:xfrm>
            <a:off x="346450" y="2244425"/>
            <a:ext cx="4296000" cy="2153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#pragma omp for schedule(dynamic,1) nowait </a:t>
            </a:r>
            <a:endParaRPr sz="16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for(int i = 0; i &lt; n; i++) </a:t>
            </a:r>
            <a:endParaRPr sz="1600" b="1">
              <a:solidFill>
                <a:schemeClr val="dk1"/>
              </a:solidFill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a[i] = bigFunc1(i); </a:t>
            </a:r>
            <a:endParaRPr sz="1600" b="1">
              <a:solidFill>
                <a:schemeClr val="dk1"/>
              </a:solidFill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#pragma omp for schedule(dynamic,1) </a:t>
            </a:r>
            <a:endParaRPr sz="16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for(int j = 0; j &lt; m; j++) </a:t>
            </a:r>
            <a:endParaRPr sz="1600" b="1">
              <a:solidFill>
                <a:schemeClr val="dk1"/>
              </a:solidFill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b[j] = bigFunc2(j); </a:t>
            </a:r>
            <a:endParaRPr sz="1600" b="1">
              <a:solidFill>
                <a:schemeClr val="dk1"/>
              </a:solidFill>
            </a:endParaRPr>
          </a:p>
        </p:txBody>
      </p:sp>
      <p:sp>
        <p:nvSpPr>
          <p:cNvPr id="407" name="Google Shape;407;g3f59d3e3f11_0_191"/>
          <p:cNvSpPr/>
          <p:nvPr/>
        </p:nvSpPr>
        <p:spPr>
          <a:xfrm>
            <a:off x="4891700" y="2343875"/>
            <a:ext cx="4028700" cy="19545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Two independent loops (dynamic schedule) modify separate arrays (a[], b[]).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Without nowait: Implicit barrier after Loop 1, threads </a:t>
            </a:r>
            <a:r>
              <a:rPr lang="en-US" sz="1300" b="1">
                <a:solidFill>
                  <a:schemeClr val="dk1"/>
                </a:solidFill>
              </a:rPr>
              <a:t>wait for everyone</a:t>
            </a:r>
            <a:r>
              <a:rPr lang="en-US" sz="1300">
                <a:solidFill>
                  <a:schemeClr val="dk1"/>
                </a:solidFill>
              </a:rPr>
              <a:t> to finish before starting Loop 2.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With nowait: Skips the barrier, threads jump </a:t>
            </a:r>
            <a:r>
              <a:rPr lang="en-US" sz="1300" b="1">
                <a:solidFill>
                  <a:schemeClr val="dk1"/>
                </a:solidFill>
              </a:rPr>
              <a:t>straight into Loop 2</a:t>
            </a:r>
            <a:r>
              <a:rPr lang="en-US" sz="1300">
                <a:solidFill>
                  <a:schemeClr val="dk1"/>
                </a:solidFill>
              </a:rPr>
              <a:t> as soon as they finish Loop 1.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f59d3e3f11_0_205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Explicit barrier synchronization </a:t>
            </a:r>
            <a:endParaRPr sz="18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Each thread waits until all threads arrive </a:t>
            </a:r>
            <a:endParaRPr sz="1800"/>
          </a:p>
        </p:txBody>
      </p:sp>
      <p:sp>
        <p:nvSpPr>
          <p:cNvPr id="414" name="Google Shape;414;g3f59d3e3f11_0_205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Barrier Construct</a:t>
            </a:r>
            <a:endParaRPr/>
          </a:p>
        </p:txBody>
      </p:sp>
      <p:sp>
        <p:nvSpPr>
          <p:cNvPr id="415" name="Google Shape;415;g3f59d3e3f11_0_205"/>
          <p:cNvSpPr/>
          <p:nvPr/>
        </p:nvSpPr>
        <p:spPr>
          <a:xfrm>
            <a:off x="373075" y="1652850"/>
            <a:ext cx="4296000" cy="2153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#pragma omp parallel shared (A, B, C) 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{ </a:t>
            </a:r>
            <a:endParaRPr sz="16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DoSomeWork(A,B); </a:t>
            </a:r>
            <a:endParaRPr sz="16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printf(“Processed A into B\n”); 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#pragma omp barrier </a:t>
            </a:r>
            <a:endParaRPr sz="16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DoSomeWork(B,C); </a:t>
            </a:r>
            <a:endParaRPr sz="16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printf(“Processed B into C\n”); 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} </a:t>
            </a:r>
            <a:endParaRPr sz="1600" b="1">
              <a:solidFill>
                <a:schemeClr val="dk1"/>
              </a:solidFill>
            </a:endParaRPr>
          </a:p>
        </p:txBody>
      </p:sp>
      <p:sp>
        <p:nvSpPr>
          <p:cNvPr id="416" name="Google Shape;416;g3f59d3e3f11_0_205"/>
          <p:cNvSpPr/>
          <p:nvPr/>
        </p:nvSpPr>
        <p:spPr>
          <a:xfrm>
            <a:off x="5461750" y="909125"/>
            <a:ext cx="3271500" cy="20616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Example code likely uses A to update B in first call, and B to update C in second call. 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Thus, to ensure correct execution, all processing from first call must be completed before starting second call. 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417" name="Google Shape;417;g3f59d3e3f11_0_205"/>
          <p:cNvSpPr txBox="1"/>
          <p:nvPr/>
        </p:nvSpPr>
        <p:spPr>
          <a:xfrm>
            <a:off x="5498650" y="3089750"/>
            <a:ext cx="31977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Sample Codes: </a:t>
            </a:r>
            <a:endParaRPr sz="1800"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b="1" u="sng">
                <a:solidFill>
                  <a:schemeClr val="hlink"/>
                </a:solidFill>
                <a:hlinkClick r:id="rId3"/>
              </a:rPr>
              <a:t>omp_1.c</a:t>
            </a:r>
            <a:endParaRPr sz="1800"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b="1" u="sng">
                <a:solidFill>
                  <a:schemeClr val="hlink"/>
                </a:solidFill>
                <a:hlinkClick r:id="rId4"/>
              </a:rPr>
              <a:t>omp_2.c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f59d3e3f11_0_216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Special case of a critical section </a:t>
            </a:r>
            <a:endParaRPr sz="18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Applies only to simple update of memory location </a:t>
            </a:r>
            <a:endParaRPr sz="1800"/>
          </a:p>
        </p:txBody>
      </p:sp>
      <p:sp>
        <p:nvSpPr>
          <p:cNvPr id="424" name="Google Shape;424;g3f59d3e3f11_0_216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Atomic Construct</a:t>
            </a:r>
            <a:endParaRPr/>
          </a:p>
        </p:txBody>
      </p:sp>
      <p:sp>
        <p:nvSpPr>
          <p:cNvPr id="425" name="Google Shape;425;g3f59d3e3f11_0_216"/>
          <p:cNvSpPr/>
          <p:nvPr/>
        </p:nvSpPr>
        <p:spPr>
          <a:xfrm>
            <a:off x="373075" y="1610825"/>
            <a:ext cx="4690500" cy="1779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#pragma omp parallel for shared(x, y, index, n) </a:t>
            </a:r>
            <a:endParaRPr sz="16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for (i = 0; i &lt; n; i++) { </a:t>
            </a:r>
            <a:endParaRPr sz="1600" b="1">
              <a:solidFill>
                <a:schemeClr val="dk1"/>
              </a:solidFill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#pragma omp atomic </a:t>
            </a:r>
            <a:endParaRPr sz="1600" b="1">
              <a:solidFill>
                <a:schemeClr val="dk1"/>
              </a:solidFill>
            </a:endParaRPr>
          </a:p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x[index[i]] += work1(i); </a:t>
            </a:r>
            <a:endParaRPr sz="1600" b="1">
              <a:solidFill>
                <a:schemeClr val="dk1"/>
              </a:solidFill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y[i] += work2(i); </a:t>
            </a:r>
            <a:endParaRPr sz="16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} </a:t>
            </a:r>
            <a:endParaRPr sz="1600" b="1">
              <a:solidFill>
                <a:schemeClr val="dk1"/>
              </a:solidFill>
            </a:endParaRPr>
          </a:p>
        </p:txBody>
      </p:sp>
      <p:sp>
        <p:nvSpPr>
          <p:cNvPr id="426" name="Google Shape;426;g3f59d3e3f11_0_216"/>
          <p:cNvSpPr/>
          <p:nvPr/>
        </p:nvSpPr>
        <p:spPr>
          <a:xfrm>
            <a:off x="5262700" y="1633775"/>
            <a:ext cx="3271500" cy="17331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</a:rPr>
              <a:t>#pragma omp atomic protects only the specific memory location update (e.g., x[index[i]]), letting surrounding code (like work1()) still run concurrently.</a:t>
            </a:r>
            <a:endParaRPr sz="15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f59d3e3f11_0_227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/>
              <a:t>Atomic vs. Critical:</a:t>
            </a:r>
            <a:endParaRPr sz="1800" b="1"/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 b="1">
                <a:solidFill>
                  <a:srgbClr val="674EA7"/>
                </a:solidFill>
              </a:rPr>
              <a:t>critical</a:t>
            </a:r>
            <a:r>
              <a:rPr lang="en-US" sz="1800" b="1"/>
              <a:t>:</a:t>
            </a:r>
            <a:r>
              <a:rPr lang="en-US" sz="1800"/>
              <a:t> Serializes </a:t>
            </a:r>
            <a:r>
              <a:rPr lang="en-US" sz="1800" i="1"/>
              <a:t>all</a:t>
            </a:r>
            <a:r>
              <a:rPr lang="en-US" sz="1800"/>
              <a:t> threads attempting the update, regardless of the array index.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 b="1">
                <a:solidFill>
                  <a:srgbClr val="674EA7"/>
                </a:solidFill>
              </a:rPr>
              <a:t>atomic</a:t>
            </a:r>
            <a:r>
              <a:rPr lang="en-US" sz="1800" b="1"/>
              <a:t>:</a:t>
            </a:r>
            <a:r>
              <a:rPr lang="en-US" sz="1800"/>
              <a:t> Serializes updates </a:t>
            </a:r>
            <a:r>
              <a:rPr lang="en-US" sz="1800" i="1"/>
              <a:t>only</a:t>
            </a:r>
            <a:r>
              <a:rPr lang="en-US" sz="1800"/>
              <a:t> when two threads write to the exact same array index—updates to different indices run in parallel.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/>
              <a:t>The operations allowed within atomic are: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/>
              <a:t>x &lt;binop&gt;= &lt;expr&gt;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/>
              <a:t>x++, ++x, x--, --x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/>
              <a:t>where x is “an lvalue expression of scalar type.”</a:t>
            </a:r>
            <a:endParaRPr sz="18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33" name="Google Shape;433;g3f59d3e3f11_0_227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Atomic Construct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f59d3e3f11_0_235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Get the thread number within a team</a:t>
            </a:r>
            <a:endParaRPr sz="1800"/>
          </a:p>
          <a:p>
            <a:pPr marL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/>
              <a:t>Get the number of threads in a team</a:t>
            </a:r>
            <a:endParaRPr sz="1800"/>
          </a:p>
          <a:p>
            <a:pPr marL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/>
              <a:t>Usually not needed for OpenMP codes  </a:t>
            </a:r>
            <a:endParaRPr sz="1800"/>
          </a:p>
          <a:p>
            <a:pPr marL="4572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Can lead to code not being serially consistent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Does have specific uses (debugging)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Must include a header file</a:t>
            </a:r>
            <a:endParaRPr sz="18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40" name="Google Shape;440;g3f59d3e3f11_0_235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OpenMP* API</a:t>
            </a:r>
            <a:endParaRPr/>
          </a:p>
        </p:txBody>
      </p:sp>
      <p:sp>
        <p:nvSpPr>
          <p:cNvPr id="441" name="Google Shape;441;g3f59d3e3f11_0_235"/>
          <p:cNvSpPr/>
          <p:nvPr/>
        </p:nvSpPr>
        <p:spPr>
          <a:xfrm>
            <a:off x="373075" y="1131232"/>
            <a:ext cx="3729300" cy="394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latin typeface="Arial Narrow"/>
                <a:ea typeface="Arial Narrow"/>
                <a:cs typeface="Arial Narrow"/>
                <a:sym typeface="Arial Narrow"/>
              </a:rPr>
              <a:t>int omp_get_thread_num(void);</a:t>
            </a:r>
            <a:endParaRPr sz="1900"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42" name="Google Shape;442;g3f59d3e3f11_0_235"/>
          <p:cNvSpPr/>
          <p:nvPr/>
        </p:nvSpPr>
        <p:spPr>
          <a:xfrm>
            <a:off x="373075" y="2027257"/>
            <a:ext cx="3729300" cy="394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latin typeface="Arial Narrow"/>
                <a:ea typeface="Arial Narrow"/>
                <a:cs typeface="Arial Narrow"/>
                <a:sym typeface="Arial Narrow"/>
              </a:rPr>
              <a:t>int omp_get_num_thread_num(void);</a:t>
            </a:r>
            <a:endParaRPr sz="1900"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43" name="Google Shape;443;g3f59d3e3f11_0_235"/>
          <p:cNvSpPr/>
          <p:nvPr/>
        </p:nvSpPr>
        <p:spPr>
          <a:xfrm>
            <a:off x="373075" y="3739907"/>
            <a:ext cx="3729300" cy="394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latin typeface="Arial Narrow"/>
                <a:ea typeface="Arial Narrow"/>
                <a:cs typeface="Arial Narrow"/>
                <a:sym typeface="Arial Narrow"/>
              </a:rPr>
              <a:t>#include &lt;omp.h&gt;</a:t>
            </a:r>
            <a:endParaRPr sz="1900"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44" name="Google Shape;444;g3f59d3e3f11_0_235"/>
          <p:cNvSpPr/>
          <p:nvPr/>
        </p:nvSpPr>
        <p:spPr>
          <a:xfrm>
            <a:off x="5924450" y="1523700"/>
            <a:ext cx="2840400" cy="15786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API calls are usually not needed. Assignment of loop iterations and other computations to threads is already built into OpenMP. </a:t>
            </a:r>
            <a:endParaRPr sz="16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7"/>
          <p:cNvSpPr txBox="1">
            <a:spLocks noGrp="1"/>
          </p:cNvSpPr>
          <p:nvPr>
            <p:ph type="body" idx="1"/>
          </p:nvPr>
        </p:nvSpPr>
        <p:spPr>
          <a:xfrm>
            <a:off x="274320" y="1887378"/>
            <a:ext cx="4097338" cy="102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</a:pPr>
            <a:r>
              <a:rPr lang="en-US"/>
              <a:t>Preparation for Lab 1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f5977d359e_0_218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Download the following files:</a:t>
            </a:r>
            <a:endParaRPr sz="1800"/>
          </a:p>
          <a:p>
            <a:pPr marL="4572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▪"/>
            </a:pPr>
            <a:r>
              <a:rPr lang="en-US" sz="1800" u="sng">
                <a:solidFill>
                  <a:schemeClr val="hlink"/>
                </a:solidFill>
                <a:hlinkClick r:id="rId3"/>
              </a:rPr>
              <a:t>VA.txt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 sz="1800" u="sng">
                <a:solidFill>
                  <a:schemeClr val="hlink"/>
                </a:solidFill>
                <a:hlinkClick r:id="rId4"/>
              </a:rPr>
              <a:t>VB.txt</a:t>
            </a:r>
            <a:endParaRPr sz="18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Download and run the following codes. Observe and analyse the output:</a:t>
            </a:r>
            <a:endParaRPr sz="1800"/>
          </a:p>
          <a:p>
            <a:pPr marL="4572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▪"/>
            </a:pPr>
            <a:r>
              <a:rPr lang="en-US" sz="1800" u="sng">
                <a:solidFill>
                  <a:schemeClr val="hlink"/>
                </a:solidFill>
                <a:hlinkClick r:id="rId5"/>
              </a:rPr>
              <a:t>Vector_Cell_Product.c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 sz="1800" u="sng">
                <a:solidFill>
                  <a:schemeClr val="hlink"/>
                </a:solidFill>
                <a:hlinkClick r:id="rId6"/>
              </a:rPr>
              <a:t>Vector_Cell_Product_Parallel.c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 sz="1800" u="sng">
                <a:solidFill>
                  <a:schemeClr val="hlink"/>
                </a:solidFill>
                <a:hlinkClick r:id="rId7"/>
              </a:rPr>
              <a:t>Vector_Cell_Product_OMPc</a:t>
            </a:r>
            <a:endParaRPr sz="1800"/>
          </a:p>
        </p:txBody>
      </p:sp>
      <p:sp>
        <p:nvSpPr>
          <p:cNvPr id="456" name="Google Shape;456;g3f5977d359e_0_218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Task 1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E70D43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3476</Words>
  <Application>Microsoft Macintosh PowerPoint</Application>
  <PresentationFormat>On-screen Show (16:9)</PresentationFormat>
  <Paragraphs>531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45</vt:i4>
      </vt:variant>
    </vt:vector>
  </HeadingPairs>
  <TitlesOfParts>
    <vt:vector size="55" baseType="lpstr">
      <vt:lpstr>Courier</vt:lpstr>
      <vt:lpstr>Arial</vt:lpstr>
      <vt:lpstr>Noto Sans Symbols</vt:lpstr>
      <vt:lpstr>Arial Narrow</vt:lpstr>
      <vt:lpstr>Calibri</vt:lpstr>
      <vt:lpstr>Times New Roman</vt:lpstr>
      <vt:lpstr>Courier New</vt:lpstr>
      <vt:lpstr>Custom Design</vt:lpstr>
      <vt:lpstr>1_Custom Design</vt:lpstr>
      <vt:lpstr>3_Custom Design</vt:lpstr>
      <vt:lpstr>Information Technology   FIT3143 Parallel Computing   Semester 2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Carlo Kopp</dc:creator>
  <cp:lastModifiedBy>Terrence Mak</cp:lastModifiedBy>
  <cp:revision>6</cp:revision>
  <dcterms:created xsi:type="dcterms:W3CDTF">2022-10-13T07:44:31Z</dcterms:created>
  <dcterms:modified xsi:type="dcterms:W3CDTF">2026-07-29T07:43:19Z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</Properties>
</file>